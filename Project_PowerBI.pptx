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63" r:id="rId3"/>
    <p:sldId id="257" r:id="rId4"/>
    <p:sldId id="258" r:id="rId5"/>
    <p:sldId id="259" r:id="rId6"/>
    <p:sldId id="260" r:id="rId7"/>
    <p:sldId id="261" r:id="rId8"/>
    <p:sldId id="262"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EAE5"/>
    <a:srgbClr val="C23E1C"/>
    <a:srgbClr val="F7F7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7"/>
    <p:restoredTop sz="90548"/>
  </p:normalViewPr>
  <p:slideViewPr>
    <p:cSldViewPr snapToGrid="0">
      <p:cViewPr varScale="1">
        <p:scale>
          <a:sx n="115" d="100"/>
          <a:sy n="115" d="100"/>
        </p:scale>
        <p:origin x="90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23ACDA-7D74-7B40-85C7-7B4F861F936B}" type="datetimeFigureOut">
              <a:rPr lang="en-US" smtClean="0"/>
              <a:t>9/16/26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8ED974-2637-2144-AE74-927E43D3C5C9}" type="slidenum">
              <a:rPr lang="en-US" smtClean="0"/>
              <a:t>‹#›</a:t>
            </a:fld>
            <a:endParaRPr lang="en-US"/>
          </a:p>
        </p:txBody>
      </p:sp>
    </p:spTree>
    <p:extLst>
      <p:ext uri="{BB962C8B-B14F-4D97-AF65-F5344CB8AC3E}">
        <p14:creationId xmlns:p14="http://schemas.microsoft.com/office/powerpoint/2010/main" val="3649284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I built this as a demo project, the data is synthetic. I generated it myself to look like an energy retailer - around 26,000 acquisitions, 17,000 churn events, five sales channels, three and a half years. The numbers are not real, but everything else is: the messy source files, the cleaning, the model and the measures. I'll take about five minutes, and please stop me at any point.</a:t>
            </a:r>
          </a:p>
          <a:p>
            <a:endParaRPr lang="en-IE" dirty="0"/>
          </a:p>
          <a:p>
            <a:endParaRPr lang="en-IE" dirty="0"/>
          </a:p>
          <a:p>
            <a:pPr rtl="0"/>
            <a:r>
              <a:rPr lang="en-IE" dirty="0"/>
              <a:t>An </a:t>
            </a:r>
            <a:r>
              <a:rPr lang="en-IE" b="1" u="none" dirty="0"/>
              <a:t>acquisition</a:t>
            </a:r>
            <a:r>
              <a:rPr lang="en-IE" dirty="0"/>
              <a:t> is one new customer who signed a contract. One row per customer - the date, the channel they came through, the region, the tariff, and what it cost us to acquire them. So 26,000 is customers who actually joined over three and a half years, not leads or quotes.</a:t>
            </a:r>
          </a:p>
          <a:p>
            <a:pPr rtl="0"/>
            <a:r>
              <a:rPr lang="en-IE" dirty="0"/>
              <a:t>A </a:t>
            </a:r>
            <a:r>
              <a:rPr lang="en-IE" b="1" dirty="0"/>
              <a:t>churn event </a:t>
            </a:r>
            <a:r>
              <a:rPr lang="en-IE" dirty="0"/>
              <a:t>is one customer leaving - the date, the reason, who they switched to, and how long they'd been with us. That's 17,000.</a:t>
            </a:r>
          </a:p>
          <a:p>
            <a:pPr rtl="0"/>
            <a:r>
              <a:rPr lang="en-IE" dirty="0"/>
              <a:t>The difference between the two is net adds, which is the number on the dashboard.</a:t>
            </a:r>
          </a:p>
          <a:p>
            <a:pPr rtl="0"/>
            <a:endParaRPr lang="en-IE" dirty="0"/>
          </a:p>
          <a:p>
            <a:pPr rtl="0"/>
            <a:r>
              <a:rPr lang="en-IE" i="1" dirty="0"/>
              <a:t>“So is 26,000 your customer base?"</a:t>
            </a:r>
            <a:endParaRPr lang="en-IE" dirty="0"/>
          </a:p>
          <a:p>
            <a:pPr rtl="0"/>
            <a:r>
              <a:rPr lang="en-IE" dirty="0"/>
              <a:t>No - the base is about 41,000. A lot of those customers joined before 2023, which is where my data starts. The 26,000 are only the ones acquired inside the period I can observe, and that matters for the retention analysis: I can only measure a cohort if I know when it started.</a:t>
            </a:r>
            <a:endParaRPr lang="ru-RU" dirty="0"/>
          </a:p>
          <a:p>
            <a:pPr rtl="0"/>
            <a:endParaRPr lang="ru-RU" dirty="0"/>
          </a:p>
          <a:p>
            <a:pPr rtl="0"/>
            <a:r>
              <a:rPr lang="en-IE" dirty="0"/>
              <a:t>A </a:t>
            </a:r>
            <a:r>
              <a:rPr lang="en-IE" b="1" dirty="0"/>
              <a:t>cohort</a:t>
            </a:r>
            <a:r>
              <a:rPr lang="en-IE" dirty="0"/>
              <a:t> is a group of customers defined by when they joined </a:t>
            </a:r>
            <a:r>
              <a:rPr lang="ru-RU" dirty="0"/>
              <a:t>-</a:t>
            </a:r>
            <a:r>
              <a:rPr lang="en-IE" dirty="0"/>
              <a:t> everyone who signed up in March 2025, for example. Retention is measured from that date, not from the calendar.</a:t>
            </a:r>
          </a:p>
          <a:p>
            <a:pPr rtl="0"/>
            <a:r>
              <a:rPr lang="en-IE" dirty="0"/>
              <a:t>So I need two things. First, an acquisition date </a:t>
            </a:r>
            <a:r>
              <a:rPr lang="ru-RU" dirty="0"/>
              <a:t>-</a:t>
            </a:r>
            <a:r>
              <a:rPr lang="en-IE" dirty="0"/>
              <a:t> customers who were already on the book before 2023 don't have one, and I can't tell whether they joined last year or ten years ago, so they're excluded. That's why the base is 41,000 but the cohort analysis uses 26,000.</a:t>
            </a:r>
          </a:p>
          <a:p>
            <a:pPr rtl="0"/>
            <a:r>
              <a:rPr lang="en-IE" dirty="0"/>
              <a:t>Second, the cohort has to be old enough. Someone who joined two months ago hasn't had the chance to reach month twelve. If I count them as retained, my twelve-month number goes up for no real reason. So each cohort only enters the calculation once it's actually reached that month.</a:t>
            </a:r>
          </a:p>
          <a:p>
            <a:pPr rtl="0"/>
            <a:endParaRPr lang="en-IE" dirty="0"/>
          </a:p>
          <a:p>
            <a:pPr rtl="0"/>
            <a:endParaRPr lang="en-IE" dirty="0"/>
          </a:p>
          <a:p>
            <a:endParaRPr lang="en-US" dirty="0"/>
          </a:p>
        </p:txBody>
      </p:sp>
      <p:sp>
        <p:nvSpPr>
          <p:cNvPr id="4" name="Slide Number Placeholder 3"/>
          <p:cNvSpPr>
            <a:spLocks noGrp="1"/>
          </p:cNvSpPr>
          <p:nvPr>
            <p:ph type="sldNum" sz="quarter" idx="5"/>
          </p:nvPr>
        </p:nvSpPr>
        <p:spPr/>
        <p:txBody>
          <a:bodyPr/>
          <a:lstStyle/>
          <a:p>
            <a:fld id="{6C8ED974-2637-2144-AE74-927E43D3C5C9}" type="slidenum">
              <a:rPr lang="en-US" smtClean="0"/>
              <a:t>1</a:t>
            </a:fld>
            <a:endParaRPr lang="en-US"/>
          </a:p>
        </p:txBody>
      </p:sp>
    </p:spTree>
    <p:extLst>
      <p:ext uri="{BB962C8B-B14F-4D97-AF65-F5344CB8AC3E}">
        <p14:creationId xmlns:p14="http://schemas.microsoft.com/office/powerpoint/2010/main" val="42166797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E" dirty="0"/>
              <a:t>This is the page a sales director would open in the morning. Closing base, net adds, how we're doing against plan, annualised churn, cost per acquisition, rolling twelve-month revenue. Everything is filtered by segment and by region at the top, so B2C and B2B are the same page, not two reports.</a:t>
            </a:r>
          </a:p>
          <a:p>
            <a:pPr rtl="0"/>
            <a:r>
              <a:rPr lang="en-IE" dirty="0"/>
              <a:t>Nothing here is typed in. Every card is a DAX measure, so when next month's data arrives the page is correct without anyone touching it.</a:t>
            </a:r>
          </a:p>
          <a:p>
            <a:pPr rtl="0"/>
            <a:r>
              <a:rPr lang="en-IE" dirty="0"/>
              <a:t>One thing I'd point out </a:t>
            </a:r>
            <a:r>
              <a:rPr lang="ru-RU" dirty="0"/>
              <a:t>-</a:t>
            </a:r>
            <a:r>
              <a:rPr lang="en-IE" dirty="0"/>
              <a:t> the waterfall on the left. Growth is steady until October 2025, and then there's a red month. That was a price rise in my scenario, and you can see it cost about a year of growth.</a:t>
            </a:r>
          </a:p>
          <a:p>
            <a:endParaRPr lang="en-US" dirty="0"/>
          </a:p>
        </p:txBody>
      </p:sp>
      <p:sp>
        <p:nvSpPr>
          <p:cNvPr id="4" name="Slide Number Placeholder 3"/>
          <p:cNvSpPr>
            <a:spLocks noGrp="1"/>
          </p:cNvSpPr>
          <p:nvPr>
            <p:ph type="sldNum" sz="quarter" idx="5"/>
          </p:nvPr>
        </p:nvSpPr>
        <p:spPr/>
        <p:txBody>
          <a:bodyPr/>
          <a:lstStyle/>
          <a:p>
            <a:fld id="{6C8ED974-2637-2144-AE74-927E43D3C5C9}" type="slidenum">
              <a:rPr lang="en-US" smtClean="0"/>
              <a:t>2</a:t>
            </a:fld>
            <a:endParaRPr lang="en-US"/>
          </a:p>
        </p:txBody>
      </p:sp>
    </p:spTree>
    <p:extLst>
      <p:ext uri="{BB962C8B-B14F-4D97-AF65-F5344CB8AC3E}">
        <p14:creationId xmlns:p14="http://schemas.microsoft.com/office/powerpoint/2010/main" val="19418821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E" dirty="0"/>
              <a:t>This is the finding. Sort the channels by cost per acquisition: Price Comparison is the cheapest at 46 euro. If you stop there, the answer is obvious </a:t>
            </a:r>
            <a:r>
              <a:rPr lang="ru-RU" dirty="0"/>
              <a:t>-</a:t>
            </a:r>
            <a:r>
              <a:rPr lang="en-IE" dirty="0"/>
              <a:t> put the money into price comparison sites.</a:t>
            </a:r>
          </a:p>
          <a:p>
            <a:pPr rtl="0"/>
            <a:r>
              <a:rPr lang="en-IE" dirty="0"/>
              <a:t>But the next column is twelve-month retention, and Price Comparison is 36 percent. Field Sales costs 151, three times more, and keeps 83 percent.</a:t>
            </a:r>
          </a:p>
          <a:p>
            <a:pPr rtl="0"/>
            <a:r>
              <a:rPr lang="en-IE" dirty="0"/>
              <a:t>So I added a column that combines them: cost per retained customer. That's CPA divided by twelve-month retention </a:t>
            </a:r>
            <a:r>
              <a:rPr lang="ru-RU" dirty="0"/>
              <a:t>-</a:t>
            </a:r>
            <a:r>
              <a:rPr lang="en-IE" dirty="0"/>
              <a:t> what you actually pay for a customer who is still there after a year. The cheapest channel to buy becomes 128, which is almost the same as Call Centre and not far off Field Sales.</a:t>
            </a:r>
          </a:p>
          <a:p>
            <a:pPr rtl="0"/>
            <a:r>
              <a:rPr lang="en-IE" dirty="0"/>
              <a:t>And the last column is contribution per acquisition over 24 months. Price Comparison is the lowest of all five. The cheapest channel to buy is the least valuable to keep.</a:t>
            </a:r>
          </a:p>
          <a:p>
            <a:endParaRPr lang="en-US" dirty="0"/>
          </a:p>
        </p:txBody>
      </p:sp>
      <p:sp>
        <p:nvSpPr>
          <p:cNvPr id="4" name="Slide Number Placeholder 3"/>
          <p:cNvSpPr>
            <a:spLocks noGrp="1"/>
          </p:cNvSpPr>
          <p:nvPr>
            <p:ph type="sldNum" sz="quarter" idx="5"/>
          </p:nvPr>
        </p:nvSpPr>
        <p:spPr/>
        <p:txBody>
          <a:bodyPr/>
          <a:lstStyle/>
          <a:p>
            <a:fld id="{6C8ED974-2637-2144-AE74-927E43D3C5C9}" type="slidenum">
              <a:rPr lang="en-US" smtClean="0"/>
              <a:t>3</a:t>
            </a:fld>
            <a:endParaRPr lang="en-US"/>
          </a:p>
        </p:txBody>
      </p:sp>
    </p:spTree>
    <p:extLst>
      <p:ext uri="{BB962C8B-B14F-4D97-AF65-F5344CB8AC3E}">
        <p14:creationId xmlns:p14="http://schemas.microsoft.com/office/powerpoint/2010/main" val="37442289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E" dirty="0"/>
              <a:t>Cost on the horizontal axis, retention on the vertical, bubble size is volume.</a:t>
            </a:r>
          </a:p>
          <a:p>
            <a:pPr rtl="0"/>
            <a:r>
              <a:rPr lang="en-IE" dirty="0"/>
              <a:t>Four channels sit roughly on a line </a:t>
            </a:r>
            <a:r>
              <a:rPr lang="ru-RU" dirty="0"/>
              <a:t>-</a:t>
            </a:r>
            <a:r>
              <a:rPr lang="en-IE" dirty="0"/>
              <a:t> you pay more, you keep more. Price Comparison sits on its own in the bottom-left corner: cheap, and it doesn't stay.</a:t>
            </a:r>
          </a:p>
          <a:p>
            <a:pPr rtl="0"/>
            <a:r>
              <a:rPr lang="en-IE" dirty="0"/>
              <a:t>I'd use this chart with a commercial audience rather than the table, because nobody has to read five columns to see the outlier.</a:t>
            </a:r>
          </a:p>
          <a:p>
            <a:endParaRPr lang="en-US" dirty="0"/>
          </a:p>
        </p:txBody>
      </p:sp>
      <p:sp>
        <p:nvSpPr>
          <p:cNvPr id="4" name="Slide Number Placeholder 3"/>
          <p:cNvSpPr>
            <a:spLocks noGrp="1"/>
          </p:cNvSpPr>
          <p:nvPr>
            <p:ph type="sldNum" sz="quarter" idx="5"/>
          </p:nvPr>
        </p:nvSpPr>
        <p:spPr/>
        <p:txBody>
          <a:bodyPr/>
          <a:lstStyle/>
          <a:p>
            <a:fld id="{6C8ED974-2637-2144-AE74-927E43D3C5C9}" type="slidenum">
              <a:rPr lang="en-US" smtClean="0"/>
              <a:t>4</a:t>
            </a:fld>
            <a:endParaRPr lang="en-US"/>
          </a:p>
        </p:txBody>
      </p:sp>
    </p:spTree>
    <p:extLst>
      <p:ext uri="{BB962C8B-B14F-4D97-AF65-F5344CB8AC3E}">
        <p14:creationId xmlns:p14="http://schemas.microsoft.com/office/powerpoint/2010/main" val="40683391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E" dirty="0"/>
              <a:t>This is how I checked it wasn't an accident of the averages. Retention curve by months since acquisition, split by channel.</a:t>
            </a:r>
          </a:p>
          <a:p>
            <a:pPr rtl="0"/>
            <a:r>
              <a:rPr lang="en-IE" dirty="0"/>
              <a:t>For the first two months all five channels look the same. They separate from about month three, and the gap really opens after month twelve.</a:t>
            </a:r>
          </a:p>
          <a:p>
            <a:pPr rtl="0"/>
            <a:r>
              <a:rPr lang="en-IE" dirty="0"/>
              <a:t>The blue line at the bottom is Price Comparison. It's not that those customers leave immediately — they leave at the end of the introductory discount.</a:t>
            </a:r>
          </a:p>
          <a:p>
            <a:pPr rtl="0"/>
            <a:r>
              <a:rPr lang="en-IE" dirty="0"/>
              <a:t>One technical point I'd make: a customer acquired three months ago cannot tell you anything about month twelve. So each point on this curve only counts cohorts old enough to have reached that month. If you don't do that, young cohorts count as retained and every curve looks too good.</a:t>
            </a:r>
          </a:p>
          <a:p>
            <a:endParaRPr lang="en-US" dirty="0"/>
          </a:p>
        </p:txBody>
      </p:sp>
      <p:sp>
        <p:nvSpPr>
          <p:cNvPr id="4" name="Slide Number Placeholder 3"/>
          <p:cNvSpPr>
            <a:spLocks noGrp="1"/>
          </p:cNvSpPr>
          <p:nvPr>
            <p:ph type="sldNum" sz="quarter" idx="5"/>
          </p:nvPr>
        </p:nvSpPr>
        <p:spPr/>
        <p:txBody>
          <a:bodyPr/>
          <a:lstStyle/>
          <a:p>
            <a:fld id="{6C8ED974-2637-2144-AE74-927E43D3C5C9}" type="slidenum">
              <a:rPr lang="en-US" smtClean="0"/>
              <a:t>5</a:t>
            </a:fld>
            <a:endParaRPr lang="en-US"/>
          </a:p>
        </p:txBody>
      </p:sp>
    </p:spTree>
    <p:extLst>
      <p:ext uri="{BB962C8B-B14F-4D97-AF65-F5344CB8AC3E}">
        <p14:creationId xmlns:p14="http://schemas.microsoft.com/office/powerpoint/2010/main" val="8303929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E" dirty="0"/>
              <a:t>Same data as a cohort matrix — acquisition month down the side, months since acquisition across the top.</a:t>
            </a:r>
          </a:p>
          <a:p>
            <a:pPr rtl="0"/>
            <a:r>
              <a:rPr lang="en-IE" dirty="0"/>
              <a:t>I'm showing this slide mainly for the blanks in the bottom right. Those are cohorts too young to measure. I left them blank on purpose.</a:t>
            </a:r>
          </a:p>
          <a:p>
            <a:pPr rtl="0"/>
            <a:r>
              <a:rPr lang="en-IE" dirty="0"/>
              <a:t>That's the most common mistake I see in retention reporting: the blank gets filled with 100 percent or with zero, and the recent cohorts look either brilliant or terrible. A blank is an honest gap, and I'd rather explain it than hide it.</a:t>
            </a:r>
          </a:p>
          <a:p>
            <a:endParaRPr lang="en-US" dirty="0"/>
          </a:p>
        </p:txBody>
      </p:sp>
      <p:sp>
        <p:nvSpPr>
          <p:cNvPr id="4" name="Slide Number Placeholder 3"/>
          <p:cNvSpPr>
            <a:spLocks noGrp="1"/>
          </p:cNvSpPr>
          <p:nvPr>
            <p:ph type="sldNum" sz="quarter" idx="5"/>
          </p:nvPr>
        </p:nvSpPr>
        <p:spPr/>
        <p:txBody>
          <a:bodyPr/>
          <a:lstStyle/>
          <a:p>
            <a:fld id="{6C8ED974-2637-2144-AE74-927E43D3C5C9}" type="slidenum">
              <a:rPr lang="en-US" smtClean="0"/>
              <a:t>6</a:t>
            </a:fld>
            <a:endParaRPr lang="en-US"/>
          </a:p>
        </p:txBody>
      </p:sp>
    </p:spTree>
    <p:extLst>
      <p:ext uri="{BB962C8B-B14F-4D97-AF65-F5344CB8AC3E}">
        <p14:creationId xmlns:p14="http://schemas.microsoft.com/office/powerpoint/2010/main" val="2645442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E" dirty="0"/>
              <a:t>Churn by tenure in months. There's a clear spike at month twelve, and a smaller one at 24.</a:t>
            </a:r>
          </a:p>
          <a:p>
            <a:pPr rtl="0"/>
            <a:r>
              <a:rPr lang="en-IE" dirty="0"/>
              <a:t>That tells you something useful about the cause. If churn were about service quality you'd expect it early and spread out. A spike exactly at the anniversary is a pricing event — the discount ends and the customer looks at the market again.</a:t>
            </a:r>
          </a:p>
          <a:p>
            <a:pPr rtl="0"/>
            <a:r>
              <a:rPr lang="en-IE" dirty="0"/>
              <a:t>And the useful part commercially is that it's predictable. You know twelve months in advance which customers are going to hit that month.</a:t>
            </a:r>
          </a:p>
          <a:p>
            <a:endParaRPr lang="en-US" dirty="0"/>
          </a:p>
        </p:txBody>
      </p:sp>
      <p:sp>
        <p:nvSpPr>
          <p:cNvPr id="4" name="Slide Number Placeholder 3"/>
          <p:cNvSpPr>
            <a:spLocks noGrp="1"/>
          </p:cNvSpPr>
          <p:nvPr>
            <p:ph type="sldNum" sz="quarter" idx="5"/>
          </p:nvPr>
        </p:nvSpPr>
        <p:spPr/>
        <p:txBody>
          <a:bodyPr/>
          <a:lstStyle/>
          <a:p>
            <a:fld id="{6C8ED974-2637-2144-AE74-927E43D3C5C9}" type="slidenum">
              <a:rPr lang="en-US" smtClean="0"/>
              <a:t>7</a:t>
            </a:fld>
            <a:endParaRPr lang="en-US"/>
          </a:p>
        </p:txBody>
      </p:sp>
    </p:spTree>
    <p:extLst>
      <p:ext uri="{BB962C8B-B14F-4D97-AF65-F5344CB8AC3E}">
        <p14:creationId xmlns:p14="http://schemas.microsoft.com/office/powerpoint/2010/main" val="24818845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E" dirty="0"/>
              <a:t>I want to show what's behind it.</a:t>
            </a:r>
          </a:p>
          <a:p>
            <a:pPr rtl="0"/>
            <a:r>
              <a:rPr lang="en-IE" dirty="0"/>
              <a:t>On the right are the Applied Steps in Power Query. Every step is named - handle missing region, normalise channel names, parse mixed date formats. The source files had the same channel written four different ways and dates in two formats, which is what real extracts look like. I didn't fix that by hand in Excel; it's all repeatable, so a new file refreshes in one click.</a:t>
            </a:r>
          </a:p>
          <a:p>
            <a:pPr rtl="0"/>
            <a:r>
              <a:rPr lang="en-IE" dirty="0"/>
              <a:t>On the left is row-level security. I set up roles so a regional manager sees only their region. If it's going to more than one person, that has to be in the model, not in a promise not to look.</a:t>
            </a:r>
          </a:p>
          <a:p>
            <a:endParaRPr lang="en-US" dirty="0"/>
          </a:p>
        </p:txBody>
      </p:sp>
      <p:sp>
        <p:nvSpPr>
          <p:cNvPr id="4" name="Slide Number Placeholder 3"/>
          <p:cNvSpPr>
            <a:spLocks noGrp="1"/>
          </p:cNvSpPr>
          <p:nvPr>
            <p:ph type="sldNum" sz="quarter" idx="5"/>
          </p:nvPr>
        </p:nvSpPr>
        <p:spPr/>
        <p:txBody>
          <a:bodyPr/>
          <a:lstStyle/>
          <a:p>
            <a:fld id="{6C8ED974-2637-2144-AE74-927E43D3C5C9}" type="slidenum">
              <a:rPr lang="en-US" smtClean="0"/>
              <a:t>8</a:t>
            </a:fld>
            <a:endParaRPr lang="en-US"/>
          </a:p>
        </p:txBody>
      </p:sp>
    </p:spTree>
    <p:extLst>
      <p:ext uri="{BB962C8B-B14F-4D97-AF65-F5344CB8AC3E}">
        <p14:creationId xmlns:p14="http://schemas.microsoft.com/office/powerpoint/2010/main" val="33709657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E" dirty="0"/>
              <a:t>So, four numbers. Price Comparison costs 46 to acquire - the cheapest. It keeps 36 percent at twelve months - the worst. That makes the real cost 128 per retained customer, and the lowest contribution of the five channels.</a:t>
            </a:r>
          </a:p>
          <a:p>
            <a:pPr rtl="0"/>
            <a:r>
              <a:rPr lang="en-IE" dirty="0"/>
              <a:t>My recommendation wouldn't be to switch it off - it delivers volume, and volume matters. It would be to stop judging channels on CPA alone, and to look at the month-twelve renewal, because that's where the value is leaking.</a:t>
            </a:r>
          </a:p>
          <a:p>
            <a:pPr rtl="0"/>
            <a:r>
              <a:rPr lang="en-IE" dirty="0"/>
              <a:t>The reason I built it this way is that this is the question I think a sales director actually asks. You can always buy volume. The question is what it cost, and what's still there twelve months later.</a:t>
            </a:r>
          </a:p>
          <a:p>
            <a:endParaRPr lang="en-US" dirty="0"/>
          </a:p>
          <a:p>
            <a:endParaRPr lang="en-US" dirty="0"/>
          </a:p>
          <a:p>
            <a:r>
              <a:rPr lang="en-IE" b="1" dirty="0"/>
              <a:t>CPA</a:t>
            </a:r>
            <a:r>
              <a:rPr lang="en-IE" dirty="0"/>
              <a:t> - cost per acquisition</a:t>
            </a:r>
          </a:p>
          <a:p>
            <a:pPr rtl="0"/>
            <a:r>
              <a:rPr lang="en-IE" b="1" dirty="0"/>
              <a:t>«what's in that 46?»:</a:t>
            </a:r>
            <a:endParaRPr lang="en-IE" dirty="0"/>
          </a:p>
          <a:p>
            <a:pPr rtl="0"/>
            <a:r>
              <a:rPr lang="en-IE" dirty="0"/>
              <a:t>It's the acquisition cost divided by the number of customers acquired through that channel. In the data every acquisition row carries its own cost, so the measure just sums the cost and divides by the count.</a:t>
            </a:r>
          </a:p>
          <a:p>
            <a:pPr rtl="0"/>
            <a:r>
              <a:rPr lang="en-IE" dirty="0"/>
              <a:t>For price comparison sites that cost is mainly the commission we pay the site for each customer who switches through them, plus the media spend on being listed there. For field sales it's the agent's commission and their time, which is why it's 155 — more than three times higher.</a:t>
            </a:r>
          </a:p>
          <a:p>
            <a:pPr rtl="0"/>
            <a:r>
              <a:rPr lang="en-IE" dirty="0"/>
              <a:t>One thing I'd flag: this is fully loaded cost per successful acquisition, so the spend on people who looked and didn't sign is in there too. It's not a click price.</a:t>
            </a:r>
          </a:p>
          <a:p>
            <a:endParaRPr lang="en-US" dirty="0"/>
          </a:p>
        </p:txBody>
      </p:sp>
      <p:sp>
        <p:nvSpPr>
          <p:cNvPr id="4" name="Slide Number Placeholder 3"/>
          <p:cNvSpPr>
            <a:spLocks noGrp="1"/>
          </p:cNvSpPr>
          <p:nvPr>
            <p:ph type="sldNum" sz="quarter" idx="5"/>
          </p:nvPr>
        </p:nvSpPr>
        <p:spPr/>
        <p:txBody>
          <a:bodyPr/>
          <a:lstStyle/>
          <a:p>
            <a:fld id="{6C8ED974-2637-2144-AE74-927E43D3C5C9}" type="slidenum">
              <a:rPr lang="en-US" smtClean="0"/>
              <a:t>9</a:t>
            </a:fld>
            <a:endParaRPr lang="en-US"/>
          </a:p>
        </p:txBody>
      </p:sp>
    </p:spTree>
    <p:extLst>
      <p:ext uri="{BB962C8B-B14F-4D97-AF65-F5344CB8AC3E}">
        <p14:creationId xmlns:p14="http://schemas.microsoft.com/office/powerpoint/2010/main" val="40511350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FB817-2E1D-73CA-F0C9-091D83F45B3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98C6C07-FC70-270A-EB12-54F86AC4E7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D1202CD-DB01-B273-4EC0-12B287E8FFC2}"/>
              </a:ext>
            </a:extLst>
          </p:cNvPr>
          <p:cNvSpPr>
            <a:spLocks noGrp="1"/>
          </p:cNvSpPr>
          <p:nvPr>
            <p:ph type="dt" sz="half" idx="10"/>
          </p:nvPr>
        </p:nvSpPr>
        <p:spPr/>
        <p:txBody>
          <a:bodyPr/>
          <a:lstStyle/>
          <a:p>
            <a:fld id="{64A47ECC-B90A-E74B-BB3C-5B5A6DBD099C}" type="datetimeFigureOut">
              <a:rPr lang="en-US" smtClean="0"/>
              <a:t>9/16/26</a:t>
            </a:fld>
            <a:endParaRPr lang="en-US"/>
          </a:p>
        </p:txBody>
      </p:sp>
      <p:sp>
        <p:nvSpPr>
          <p:cNvPr id="5" name="Footer Placeholder 4">
            <a:extLst>
              <a:ext uri="{FF2B5EF4-FFF2-40B4-BE49-F238E27FC236}">
                <a16:creationId xmlns:a16="http://schemas.microsoft.com/office/drawing/2014/main" id="{DA15AF7B-810D-05FE-D6CF-95BEB8BE5B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6A0CDB-809D-DC69-5225-6CB88733A61D}"/>
              </a:ext>
            </a:extLst>
          </p:cNvPr>
          <p:cNvSpPr>
            <a:spLocks noGrp="1"/>
          </p:cNvSpPr>
          <p:nvPr>
            <p:ph type="sldNum" sz="quarter" idx="12"/>
          </p:nvPr>
        </p:nvSpPr>
        <p:spPr/>
        <p:txBody>
          <a:bodyPr/>
          <a:lstStyle/>
          <a:p>
            <a:fld id="{6E0377F9-9EFD-1541-B6C0-FB48E2418F46}" type="slidenum">
              <a:rPr lang="en-US" smtClean="0"/>
              <a:t>‹#›</a:t>
            </a:fld>
            <a:endParaRPr lang="en-US"/>
          </a:p>
        </p:txBody>
      </p:sp>
    </p:spTree>
    <p:extLst>
      <p:ext uri="{BB962C8B-B14F-4D97-AF65-F5344CB8AC3E}">
        <p14:creationId xmlns:p14="http://schemas.microsoft.com/office/powerpoint/2010/main" val="3963522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AEB22-E6C4-CFF7-0143-A9C5AAD74C4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3E43088-ABFC-6530-DF9B-C7371773F9D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FA6B41D-CEB2-355D-5B69-E201D98605C2}"/>
              </a:ext>
            </a:extLst>
          </p:cNvPr>
          <p:cNvSpPr>
            <a:spLocks noGrp="1"/>
          </p:cNvSpPr>
          <p:nvPr>
            <p:ph type="dt" sz="half" idx="10"/>
          </p:nvPr>
        </p:nvSpPr>
        <p:spPr/>
        <p:txBody>
          <a:bodyPr/>
          <a:lstStyle/>
          <a:p>
            <a:fld id="{64A47ECC-B90A-E74B-BB3C-5B5A6DBD099C}" type="datetimeFigureOut">
              <a:rPr lang="en-US" smtClean="0"/>
              <a:t>9/16/26</a:t>
            </a:fld>
            <a:endParaRPr lang="en-US"/>
          </a:p>
        </p:txBody>
      </p:sp>
      <p:sp>
        <p:nvSpPr>
          <p:cNvPr id="5" name="Footer Placeholder 4">
            <a:extLst>
              <a:ext uri="{FF2B5EF4-FFF2-40B4-BE49-F238E27FC236}">
                <a16:creationId xmlns:a16="http://schemas.microsoft.com/office/drawing/2014/main" id="{37C6A6AF-0379-79CF-DD7B-6B3E48132D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2A3795-219B-B92E-E554-CCA59A7B843B}"/>
              </a:ext>
            </a:extLst>
          </p:cNvPr>
          <p:cNvSpPr>
            <a:spLocks noGrp="1"/>
          </p:cNvSpPr>
          <p:nvPr>
            <p:ph type="sldNum" sz="quarter" idx="12"/>
          </p:nvPr>
        </p:nvSpPr>
        <p:spPr/>
        <p:txBody>
          <a:bodyPr/>
          <a:lstStyle/>
          <a:p>
            <a:fld id="{6E0377F9-9EFD-1541-B6C0-FB48E2418F46}" type="slidenum">
              <a:rPr lang="en-US" smtClean="0"/>
              <a:t>‹#›</a:t>
            </a:fld>
            <a:endParaRPr lang="en-US"/>
          </a:p>
        </p:txBody>
      </p:sp>
    </p:spTree>
    <p:extLst>
      <p:ext uri="{BB962C8B-B14F-4D97-AF65-F5344CB8AC3E}">
        <p14:creationId xmlns:p14="http://schemas.microsoft.com/office/powerpoint/2010/main" val="3592024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A8A84-BA31-3C03-521C-6D8286C3039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96BBC438-6D31-D804-5A7F-3BDE3DC3E9E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CBBF442-E9AE-8BFD-7C59-DB77DB836F5B}"/>
              </a:ext>
            </a:extLst>
          </p:cNvPr>
          <p:cNvSpPr>
            <a:spLocks noGrp="1"/>
          </p:cNvSpPr>
          <p:nvPr>
            <p:ph type="dt" sz="half" idx="10"/>
          </p:nvPr>
        </p:nvSpPr>
        <p:spPr/>
        <p:txBody>
          <a:bodyPr/>
          <a:lstStyle/>
          <a:p>
            <a:fld id="{64A47ECC-B90A-E74B-BB3C-5B5A6DBD099C}" type="datetimeFigureOut">
              <a:rPr lang="en-US" smtClean="0"/>
              <a:t>9/16/26</a:t>
            </a:fld>
            <a:endParaRPr lang="en-US"/>
          </a:p>
        </p:txBody>
      </p:sp>
      <p:sp>
        <p:nvSpPr>
          <p:cNvPr id="5" name="Footer Placeholder 4">
            <a:extLst>
              <a:ext uri="{FF2B5EF4-FFF2-40B4-BE49-F238E27FC236}">
                <a16:creationId xmlns:a16="http://schemas.microsoft.com/office/drawing/2014/main" id="{DB00758F-1B6A-CC6C-3CE8-805703765D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168577-58F6-E02E-EECA-FD48558E92AB}"/>
              </a:ext>
            </a:extLst>
          </p:cNvPr>
          <p:cNvSpPr>
            <a:spLocks noGrp="1"/>
          </p:cNvSpPr>
          <p:nvPr>
            <p:ph type="sldNum" sz="quarter" idx="12"/>
          </p:nvPr>
        </p:nvSpPr>
        <p:spPr/>
        <p:txBody>
          <a:bodyPr/>
          <a:lstStyle/>
          <a:p>
            <a:fld id="{6E0377F9-9EFD-1541-B6C0-FB48E2418F46}" type="slidenum">
              <a:rPr lang="en-US" smtClean="0"/>
              <a:t>‹#›</a:t>
            </a:fld>
            <a:endParaRPr lang="en-US"/>
          </a:p>
        </p:txBody>
      </p:sp>
    </p:spTree>
    <p:extLst>
      <p:ext uri="{BB962C8B-B14F-4D97-AF65-F5344CB8AC3E}">
        <p14:creationId xmlns:p14="http://schemas.microsoft.com/office/powerpoint/2010/main" val="38376340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CEECE-053F-B2C2-09EF-AC19020D284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1AABD01-49CA-A673-6940-8E22BBBC7FE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EA60A0AD-C931-DC81-2ECC-71CF7ED43C8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1446B5C6-C08D-5E95-928D-72AC2E9CC511}"/>
              </a:ext>
            </a:extLst>
          </p:cNvPr>
          <p:cNvSpPr>
            <a:spLocks noGrp="1"/>
          </p:cNvSpPr>
          <p:nvPr>
            <p:ph type="dt" sz="half" idx="10"/>
          </p:nvPr>
        </p:nvSpPr>
        <p:spPr/>
        <p:txBody>
          <a:bodyPr/>
          <a:lstStyle/>
          <a:p>
            <a:fld id="{64A47ECC-B90A-E74B-BB3C-5B5A6DBD099C}" type="datetimeFigureOut">
              <a:rPr lang="en-US" smtClean="0"/>
              <a:t>9/16/26</a:t>
            </a:fld>
            <a:endParaRPr lang="en-US"/>
          </a:p>
        </p:txBody>
      </p:sp>
      <p:sp>
        <p:nvSpPr>
          <p:cNvPr id="6" name="Footer Placeholder 5">
            <a:extLst>
              <a:ext uri="{FF2B5EF4-FFF2-40B4-BE49-F238E27FC236}">
                <a16:creationId xmlns:a16="http://schemas.microsoft.com/office/drawing/2014/main" id="{6B440211-EBBE-305A-B6F5-0E7DD6D8CD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D381AC-E340-1D07-F666-E27D39006C7D}"/>
              </a:ext>
            </a:extLst>
          </p:cNvPr>
          <p:cNvSpPr>
            <a:spLocks noGrp="1"/>
          </p:cNvSpPr>
          <p:nvPr>
            <p:ph type="sldNum" sz="quarter" idx="12"/>
          </p:nvPr>
        </p:nvSpPr>
        <p:spPr/>
        <p:txBody>
          <a:bodyPr/>
          <a:lstStyle/>
          <a:p>
            <a:fld id="{6E0377F9-9EFD-1541-B6C0-FB48E2418F46}" type="slidenum">
              <a:rPr lang="en-US" smtClean="0"/>
              <a:t>‹#›</a:t>
            </a:fld>
            <a:endParaRPr lang="en-US"/>
          </a:p>
        </p:txBody>
      </p:sp>
    </p:spTree>
    <p:extLst>
      <p:ext uri="{BB962C8B-B14F-4D97-AF65-F5344CB8AC3E}">
        <p14:creationId xmlns:p14="http://schemas.microsoft.com/office/powerpoint/2010/main" val="1489934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0B113-51EF-784E-E6A8-90A074B332DC}"/>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C791E76-3E7E-4069-88FD-EBBF64FA69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8D17F0A-E353-40E0-694F-BD8A4CD37F8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1F5E25A9-30CA-D3F9-96F3-6533B475B2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023EAE6-A251-11D9-5F8D-D05A154B075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7586F7E5-4EED-7387-C720-DFE1456C9211}"/>
              </a:ext>
            </a:extLst>
          </p:cNvPr>
          <p:cNvSpPr>
            <a:spLocks noGrp="1"/>
          </p:cNvSpPr>
          <p:nvPr>
            <p:ph type="dt" sz="half" idx="10"/>
          </p:nvPr>
        </p:nvSpPr>
        <p:spPr/>
        <p:txBody>
          <a:bodyPr/>
          <a:lstStyle/>
          <a:p>
            <a:fld id="{64A47ECC-B90A-E74B-BB3C-5B5A6DBD099C}" type="datetimeFigureOut">
              <a:rPr lang="en-US" smtClean="0"/>
              <a:t>9/16/26</a:t>
            </a:fld>
            <a:endParaRPr lang="en-US"/>
          </a:p>
        </p:txBody>
      </p:sp>
      <p:sp>
        <p:nvSpPr>
          <p:cNvPr id="8" name="Footer Placeholder 7">
            <a:extLst>
              <a:ext uri="{FF2B5EF4-FFF2-40B4-BE49-F238E27FC236}">
                <a16:creationId xmlns:a16="http://schemas.microsoft.com/office/drawing/2014/main" id="{556B6A89-255F-90E5-01AF-F8273AAE594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0F0C3AC-5387-7BF7-7FD7-31DFBFF7F3DE}"/>
              </a:ext>
            </a:extLst>
          </p:cNvPr>
          <p:cNvSpPr>
            <a:spLocks noGrp="1"/>
          </p:cNvSpPr>
          <p:nvPr>
            <p:ph type="sldNum" sz="quarter" idx="12"/>
          </p:nvPr>
        </p:nvSpPr>
        <p:spPr/>
        <p:txBody>
          <a:bodyPr/>
          <a:lstStyle/>
          <a:p>
            <a:fld id="{6E0377F9-9EFD-1541-B6C0-FB48E2418F46}" type="slidenum">
              <a:rPr lang="en-US" smtClean="0"/>
              <a:t>‹#›</a:t>
            </a:fld>
            <a:endParaRPr lang="en-US"/>
          </a:p>
        </p:txBody>
      </p:sp>
    </p:spTree>
    <p:extLst>
      <p:ext uri="{BB962C8B-B14F-4D97-AF65-F5344CB8AC3E}">
        <p14:creationId xmlns:p14="http://schemas.microsoft.com/office/powerpoint/2010/main" val="3871602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ABFEE-A247-FE6D-D482-7548DFBAD52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EFBA755E-643B-5465-2227-2623BC7EED70}"/>
              </a:ext>
            </a:extLst>
          </p:cNvPr>
          <p:cNvSpPr>
            <a:spLocks noGrp="1"/>
          </p:cNvSpPr>
          <p:nvPr>
            <p:ph type="dt" sz="half" idx="10"/>
          </p:nvPr>
        </p:nvSpPr>
        <p:spPr/>
        <p:txBody>
          <a:bodyPr/>
          <a:lstStyle/>
          <a:p>
            <a:fld id="{64A47ECC-B90A-E74B-BB3C-5B5A6DBD099C}" type="datetimeFigureOut">
              <a:rPr lang="en-US" smtClean="0"/>
              <a:t>9/16/26</a:t>
            </a:fld>
            <a:endParaRPr lang="en-US"/>
          </a:p>
        </p:txBody>
      </p:sp>
      <p:sp>
        <p:nvSpPr>
          <p:cNvPr id="4" name="Footer Placeholder 3">
            <a:extLst>
              <a:ext uri="{FF2B5EF4-FFF2-40B4-BE49-F238E27FC236}">
                <a16:creationId xmlns:a16="http://schemas.microsoft.com/office/drawing/2014/main" id="{81A29158-50AE-EAC0-356A-A2F8FDE52E7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BBDE46-8EC5-3CD3-036B-085668BBCBC2}"/>
              </a:ext>
            </a:extLst>
          </p:cNvPr>
          <p:cNvSpPr>
            <a:spLocks noGrp="1"/>
          </p:cNvSpPr>
          <p:nvPr>
            <p:ph type="sldNum" sz="quarter" idx="12"/>
          </p:nvPr>
        </p:nvSpPr>
        <p:spPr/>
        <p:txBody>
          <a:bodyPr/>
          <a:lstStyle/>
          <a:p>
            <a:fld id="{6E0377F9-9EFD-1541-B6C0-FB48E2418F46}" type="slidenum">
              <a:rPr lang="en-US" smtClean="0"/>
              <a:t>‹#›</a:t>
            </a:fld>
            <a:endParaRPr lang="en-US"/>
          </a:p>
        </p:txBody>
      </p:sp>
    </p:spTree>
    <p:extLst>
      <p:ext uri="{BB962C8B-B14F-4D97-AF65-F5344CB8AC3E}">
        <p14:creationId xmlns:p14="http://schemas.microsoft.com/office/powerpoint/2010/main" val="1693150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83D7F2-1090-D40A-AF47-00931A20DC05}"/>
              </a:ext>
            </a:extLst>
          </p:cNvPr>
          <p:cNvSpPr>
            <a:spLocks noGrp="1"/>
          </p:cNvSpPr>
          <p:nvPr>
            <p:ph type="dt" sz="half" idx="10"/>
          </p:nvPr>
        </p:nvSpPr>
        <p:spPr/>
        <p:txBody>
          <a:bodyPr/>
          <a:lstStyle/>
          <a:p>
            <a:fld id="{64A47ECC-B90A-E74B-BB3C-5B5A6DBD099C}" type="datetimeFigureOut">
              <a:rPr lang="en-US" smtClean="0"/>
              <a:t>9/16/26</a:t>
            </a:fld>
            <a:endParaRPr lang="en-US"/>
          </a:p>
        </p:txBody>
      </p:sp>
      <p:sp>
        <p:nvSpPr>
          <p:cNvPr id="3" name="Footer Placeholder 2">
            <a:extLst>
              <a:ext uri="{FF2B5EF4-FFF2-40B4-BE49-F238E27FC236}">
                <a16:creationId xmlns:a16="http://schemas.microsoft.com/office/drawing/2014/main" id="{DFD37B97-4B9B-7583-3354-EC2AF6F5C7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A793272-2E94-9B99-8A10-ABBE7A166BCF}"/>
              </a:ext>
            </a:extLst>
          </p:cNvPr>
          <p:cNvSpPr>
            <a:spLocks noGrp="1"/>
          </p:cNvSpPr>
          <p:nvPr>
            <p:ph type="sldNum" sz="quarter" idx="12"/>
          </p:nvPr>
        </p:nvSpPr>
        <p:spPr/>
        <p:txBody>
          <a:bodyPr/>
          <a:lstStyle/>
          <a:p>
            <a:fld id="{6E0377F9-9EFD-1541-B6C0-FB48E2418F46}" type="slidenum">
              <a:rPr lang="en-US" smtClean="0"/>
              <a:t>‹#›</a:t>
            </a:fld>
            <a:endParaRPr lang="en-US"/>
          </a:p>
        </p:txBody>
      </p:sp>
    </p:spTree>
    <p:extLst>
      <p:ext uri="{BB962C8B-B14F-4D97-AF65-F5344CB8AC3E}">
        <p14:creationId xmlns:p14="http://schemas.microsoft.com/office/powerpoint/2010/main" val="1025732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B6ECD-F959-49F7-B295-280D0A2C7AE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74DA340-701E-3489-62A4-578338433B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187FCC6-E469-F1CA-56A5-D0D8A98C41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662028A-213F-5653-9E78-B7560DCD969F}"/>
              </a:ext>
            </a:extLst>
          </p:cNvPr>
          <p:cNvSpPr>
            <a:spLocks noGrp="1"/>
          </p:cNvSpPr>
          <p:nvPr>
            <p:ph type="dt" sz="half" idx="10"/>
          </p:nvPr>
        </p:nvSpPr>
        <p:spPr/>
        <p:txBody>
          <a:bodyPr/>
          <a:lstStyle/>
          <a:p>
            <a:fld id="{64A47ECC-B90A-E74B-BB3C-5B5A6DBD099C}" type="datetimeFigureOut">
              <a:rPr lang="en-US" smtClean="0"/>
              <a:t>9/16/26</a:t>
            </a:fld>
            <a:endParaRPr lang="en-US"/>
          </a:p>
        </p:txBody>
      </p:sp>
      <p:sp>
        <p:nvSpPr>
          <p:cNvPr id="6" name="Footer Placeholder 5">
            <a:extLst>
              <a:ext uri="{FF2B5EF4-FFF2-40B4-BE49-F238E27FC236}">
                <a16:creationId xmlns:a16="http://schemas.microsoft.com/office/drawing/2014/main" id="{3A3BDBAE-22BA-88A6-0001-DE26FE0A52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EA02CC-742B-871F-BD28-EE2032023E63}"/>
              </a:ext>
            </a:extLst>
          </p:cNvPr>
          <p:cNvSpPr>
            <a:spLocks noGrp="1"/>
          </p:cNvSpPr>
          <p:nvPr>
            <p:ph type="sldNum" sz="quarter" idx="12"/>
          </p:nvPr>
        </p:nvSpPr>
        <p:spPr/>
        <p:txBody>
          <a:bodyPr/>
          <a:lstStyle/>
          <a:p>
            <a:fld id="{6E0377F9-9EFD-1541-B6C0-FB48E2418F46}" type="slidenum">
              <a:rPr lang="en-US" smtClean="0"/>
              <a:t>‹#›</a:t>
            </a:fld>
            <a:endParaRPr lang="en-US"/>
          </a:p>
        </p:txBody>
      </p:sp>
    </p:spTree>
    <p:extLst>
      <p:ext uri="{BB962C8B-B14F-4D97-AF65-F5344CB8AC3E}">
        <p14:creationId xmlns:p14="http://schemas.microsoft.com/office/powerpoint/2010/main" val="3201097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EF6E6-AD1A-EF51-DE80-56C91E8289C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7C31AFCF-BED7-13C5-C6FE-3FA7C7FBF6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9688266-CEF5-8F3D-8A07-856D6D3E8A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5A46AD1-963A-117F-ECA3-7F0D3A642A31}"/>
              </a:ext>
            </a:extLst>
          </p:cNvPr>
          <p:cNvSpPr>
            <a:spLocks noGrp="1"/>
          </p:cNvSpPr>
          <p:nvPr>
            <p:ph type="dt" sz="half" idx="10"/>
          </p:nvPr>
        </p:nvSpPr>
        <p:spPr/>
        <p:txBody>
          <a:bodyPr/>
          <a:lstStyle/>
          <a:p>
            <a:fld id="{64A47ECC-B90A-E74B-BB3C-5B5A6DBD099C}" type="datetimeFigureOut">
              <a:rPr lang="en-US" smtClean="0"/>
              <a:t>9/16/26</a:t>
            </a:fld>
            <a:endParaRPr lang="en-US"/>
          </a:p>
        </p:txBody>
      </p:sp>
      <p:sp>
        <p:nvSpPr>
          <p:cNvPr id="6" name="Footer Placeholder 5">
            <a:extLst>
              <a:ext uri="{FF2B5EF4-FFF2-40B4-BE49-F238E27FC236}">
                <a16:creationId xmlns:a16="http://schemas.microsoft.com/office/drawing/2014/main" id="{EE5F0680-E2F1-B677-C4EE-5D728E6032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148531-5C4E-8C33-AFEC-2EBDF965477C}"/>
              </a:ext>
            </a:extLst>
          </p:cNvPr>
          <p:cNvSpPr>
            <a:spLocks noGrp="1"/>
          </p:cNvSpPr>
          <p:nvPr>
            <p:ph type="sldNum" sz="quarter" idx="12"/>
          </p:nvPr>
        </p:nvSpPr>
        <p:spPr/>
        <p:txBody>
          <a:bodyPr/>
          <a:lstStyle/>
          <a:p>
            <a:fld id="{6E0377F9-9EFD-1541-B6C0-FB48E2418F46}" type="slidenum">
              <a:rPr lang="en-US" smtClean="0"/>
              <a:t>‹#›</a:t>
            </a:fld>
            <a:endParaRPr lang="en-US"/>
          </a:p>
        </p:txBody>
      </p:sp>
    </p:spTree>
    <p:extLst>
      <p:ext uri="{BB962C8B-B14F-4D97-AF65-F5344CB8AC3E}">
        <p14:creationId xmlns:p14="http://schemas.microsoft.com/office/powerpoint/2010/main" val="153583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D32DB-5430-120E-FF20-CB2BA78A7ABC}"/>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33AB1DC-59A9-E987-73D1-377B0BF2350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E1C1303-3B39-82B9-61C1-7E8CA0F3931A}"/>
              </a:ext>
            </a:extLst>
          </p:cNvPr>
          <p:cNvSpPr>
            <a:spLocks noGrp="1"/>
          </p:cNvSpPr>
          <p:nvPr>
            <p:ph type="dt" sz="half" idx="10"/>
          </p:nvPr>
        </p:nvSpPr>
        <p:spPr/>
        <p:txBody>
          <a:bodyPr/>
          <a:lstStyle/>
          <a:p>
            <a:fld id="{64A47ECC-B90A-E74B-BB3C-5B5A6DBD099C}" type="datetimeFigureOut">
              <a:rPr lang="en-US" smtClean="0"/>
              <a:t>9/16/26</a:t>
            </a:fld>
            <a:endParaRPr lang="en-US"/>
          </a:p>
        </p:txBody>
      </p:sp>
      <p:sp>
        <p:nvSpPr>
          <p:cNvPr id="5" name="Footer Placeholder 4">
            <a:extLst>
              <a:ext uri="{FF2B5EF4-FFF2-40B4-BE49-F238E27FC236}">
                <a16:creationId xmlns:a16="http://schemas.microsoft.com/office/drawing/2014/main" id="{121F2A65-46FD-771B-1D9F-54594C0E67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0A4C8D-D794-D9EC-DA1F-700E8010D2B9}"/>
              </a:ext>
            </a:extLst>
          </p:cNvPr>
          <p:cNvSpPr>
            <a:spLocks noGrp="1"/>
          </p:cNvSpPr>
          <p:nvPr>
            <p:ph type="sldNum" sz="quarter" idx="12"/>
          </p:nvPr>
        </p:nvSpPr>
        <p:spPr/>
        <p:txBody>
          <a:bodyPr/>
          <a:lstStyle/>
          <a:p>
            <a:fld id="{6E0377F9-9EFD-1541-B6C0-FB48E2418F46}" type="slidenum">
              <a:rPr lang="en-US" smtClean="0"/>
              <a:t>‹#›</a:t>
            </a:fld>
            <a:endParaRPr lang="en-US"/>
          </a:p>
        </p:txBody>
      </p:sp>
    </p:spTree>
    <p:extLst>
      <p:ext uri="{BB962C8B-B14F-4D97-AF65-F5344CB8AC3E}">
        <p14:creationId xmlns:p14="http://schemas.microsoft.com/office/powerpoint/2010/main" val="304830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18B6F7-7661-878A-B082-615C769C0F2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A1819B0-1D49-0BD0-9FFF-46FDD1B5BEF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0566FB-0A28-F9D1-D5E7-D6BB63E2C84F}"/>
              </a:ext>
            </a:extLst>
          </p:cNvPr>
          <p:cNvSpPr>
            <a:spLocks noGrp="1"/>
          </p:cNvSpPr>
          <p:nvPr>
            <p:ph type="dt" sz="half" idx="10"/>
          </p:nvPr>
        </p:nvSpPr>
        <p:spPr/>
        <p:txBody>
          <a:bodyPr/>
          <a:lstStyle/>
          <a:p>
            <a:fld id="{64A47ECC-B90A-E74B-BB3C-5B5A6DBD099C}" type="datetimeFigureOut">
              <a:rPr lang="en-US" smtClean="0"/>
              <a:t>9/16/26</a:t>
            </a:fld>
            <a:endParaRPr lang="en-US"/>
          </a:p>
        </p:txBody>
      </p:sp>
      <p:sp>
        <p:nvSpPr>
          <p:cNvPr id="5" name="Footer Placeholder 4">
            <a:extLst>
              <a:ext uri="{FF2B5EF4-FFF2-40B4-BE49-F238E27FC236}">
                <a16:creationId xmlns:a16="http://schemas.microsoft.com/office/drawing/2014/main" id="{2000431B-99FE-E266-6864-DD849C853E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80B799-6279-80AA-8A86-22C96BCD21E3}"/>
              </a:ext>
            </a:extLst>
          </p:cNvPr>
          <p:cNvSpPr>
            <a:spLocks noGrp="1"/>
          </p:cNvSpPr>
          <p:nvPr>
            <p:ph type="sldNum" sz="quarter" idx="12"/>
          </p:nvPr>
        </p:nvSpPr>
        <p:spPr/>
        <p:txBody>
          <a:bodyPr/>
          <a:lstStyle/>
          <a:p>
            <a:fld id="{6E0377F9-9EFD-1541-B6C0-FB48E2418F46}" type="slidenum">
              <a:rPr lang="en-US" smtClean="0"/>
              <a:t>‹#›</a:t>
            </a:fld>
            <a:endParaRPr lang="en-US"/>
          </a:p>
        </p:txBody>
      </p:sp>
    </p:spTree>
    <p:extLst>
      <p:ext uri="{BB962C8B-B14F-4D97-AF65-F5344CB8AC3E}">
        <p14:creationId xmlns:p14="http://schemas.microsoft.com/office/powerpoint/2010/main" val="2802104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CEAE5"/>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0CB99E-2A21-7C9E-3C98-8AD2F8959E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130E269-0807-6ACF-501D-EE4BCE7793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FEF1213-E82A-9DC1-D7B6-E07A539635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4A47ECC-B90A-E74B-BB3C-5B5A6DBD099C}" type="datetimeFigureOut">
              <a:rPr lang="en-US" smtClean="0"/>
              <a:t>9/16/26</a:t>
            </a:fld>
            <a:endParaRPr lang="en-US"/>
          </a:p>
        </p:txBody>
      </p:sp>
      <p:sp>
        <p:nvSpPr>
          <p:cNvPr id="5" name="Footer Placeholder 4">
            <a:extLst>
              <a:ext uri="{FF2B5EF4-FFF2-40B4-BE49-F238E27FC236}">
                <a16:creationId xmlns:a16="http://schemas.microsoft.com/office/drawing/2014/main" id="{B5E7DE92-2700-A45F-1BC4-0A66E0B32E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C159924-4A47-BA31-B9DD-40FDE741AE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0377F9-9EFD-1541-B6C0-FB48E2418F46}" type="slidenum">
              <a:rPr lang="en-US" smtClean="0"/>
              <a:t>‹#›</a:t>
            </a:fld>
            <a:endParaRPr lang="en-US"/>
          </a:p>
        </p:txBody>
      </p:sp>
    </p:spTree>
    <p:extLst>
      <p:ext uri="{BB962C8B-B14F-4D97-AF65-F5344CB8AC3E}">
        <p14:creationId xmlns:p14="http://schemas.microsoft.com/office/powerpoint/2010/main" val="2557895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8839B61-A443-07F5-868F-09110DD7A899}"/>
              </a:ext>
            </a:extLst>
          </p:cNvPr>
          <p:cNvSpPr/>
          <p:nvPr/>
        </p:nvSpPr>
        <p:spPr>
          <a:xfrm>
            <a:off x="0" y="0"/>
            <a:ext cx="12191695" cy="50292"/>
          </a:xfrm>
          <a:prstGeom prst="rect">
            <a:avLst/>
          </a:prstGeom>
          <a:solidFill>
            <a:srgbClr val="0B5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837B8931-CD00-9186-855D-BECD59F6E3DE}"/>
              </a:ext>
            </a:extLst>
          </p:cNvPr>
          <p:cNvSpPr txBox="1"/>
          <p:nvPr/>
        </p:nvSpPr>
        <p:spPr>
          <a:xfrm>
            <a:off x="914400" y="1088631"/>
            <a:ext cx="10058400" cy="1005840"/>
          </a:xfrm>
          <a:prstGeom prst="rect">
            <a:avLst/>
          </a:prstGeom>
          <a:noFill/>
        </p:spPr>
        <p:txBody>
          <a:bodyPr wrap="square" lIns="0" tIns="0" rIns="0" bIns="0">
            <a:spAutoFit/>
          </a:bodyPr>
          <a:lstStyle/>
          <a:p>
            <a:pPr algn="l"/>
            <a:r>
              <a:rPr sz="5400" b="1">
                <a:solidFill>
                  <a:srgbClr val="1A1D21"/>
                </a:solidFill>
                <a:latin typeface="Calibri"/>
              </a:rPr>
              <a:t>Shannon Energy</a:t>
            </a:r>
          </a:p>
        </p:txBody>
      </p:sp>
      <p:sp>
        <p:nvSpPr>
          <p:cNvPr id="10" name="TextBox 9">
            <a:extLst>
              <a:ext uri="{FF2B5EF4-FFF2-40B4-BE49-F238E27FC236}">
                <a16:creationId xmlns:a16="http://schemas.microsoft.com/office/drawing/2014/main" id="{C4DEC639-BB5B-5AD6-6BAA-721B2D10B9C2}"/>
              </a:ext>
            </a:extLst>
          </p:cNvPr>
          <p:cNvSpPr txBox="1"/>
          <p:nvPr/>
        </p:nvSpPr>
        <p:spPr>
          <a:xfrm>
            <a:off x="914400" y="2003031"/>
            <a:ext cx="10058400" cy="640080"/>
          </a:xfrm>
          <a:prstGeom prst="rect">
            <a:avLst/>
          </a:prstGeom>
          <a:noFill/>
        </p:spPr>
        <p:txBody>
          <a:bodyPr wrap="square" lIns="0" tIns="0" rIns="0" bIns="0">
            <a:spAutoFit/>
          </a:bodyPr>
          <a:lstStyle/>
          <a:p>
            <a:pPr algn="l"/>
            <a:r>
              <a:rPr sz="2800" b="0">
                <a:solidFill>
                  <a:srgbClr val="0B5C3F"/>
                </a:solidFill>
                <a:latin typeface="Calibri"/>
              </a:rPr>
              <a:t>Sales &amp; Retention Analytics</a:t>
            </a:r>
          </a:p>
        </p:txBody>
      </p:sp>
      <p:sp>
        <p:nvSpPr>
          <p:cNvPr id="11" name="Rectangle 10">
            <a:extLst>
              <a:ext uri="{FF2B5EF4-FFF2-40B4-BE49-F238E27FC236}">
                <a16:creationId xmlns:a16="http://schemas.microsoft.com/office/drawing/2014/main" id="{37E3F0EB-B61F-0259-4B98-9A14E895040C}"/>
              </a:ext>
            </a:extLst>
          </p:cNvPr>
          <p:cNvSpPr/>
          <p:nvPr/>
        </p:nvSpPr>
        <p:spPr>
          <a:xfrm>
            <a:off x="914400" y="2579103"/>
            <a:ext cx="1737360" cy="2200"/>
          </a:xfrm>
          <a:prstGeom prst="rect">
            <a:avLst/>
          </a:prstGeom>
          <a:solidFill>
            <a:srgbClr val="D6D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2141D562-1256-526B-8D39-1C07190F96CC}"/>
              </a:ext>
            </a:extLst>
          </p:cNvPr>
          <p:cNvSpPr txBox="1"/>
          <p:nvPr/>
        </p:nvSpPr>
        <p:spPr>
          <a:xfrm>
            <a:off x="914400" y="2889999"/>
            <a:ext cx="10058400" cy="230832"/>
          </a:xfrm>
          <a:prstGeom prst="rect">
            <a:avLst/>
          </a:prstGeom>
          <a:noFill/>
        </p:spPr>
        <p:txBody>
          <a:bodyPr wrap="square" lIns="0" tIns="0" rIns="0" bIns="0">
            <a:spAutoFit/>
          </a:bodyPr>
          <a:lstStyle/>
          <a:p>
            <a:pPr algn="l"/>
            <a:r>
              <a:rPr sz="1500" b="0" dirty="0">
                <a:solidFill>
                  <a:srgbClr val="787F88"/>
                </a:solidFill>
                <a:latin typeface="Calibri"/>
              </a:rPr>
              <a:t>Power BI demo project </a:t>
            </a:r>
            <a:r>
              <a:rPr lang="en-IE" sz="1500" b="0" dirty="0">
                <a:solidFill>
                  <a:srgbClr val="787F88"/>
                </a:solidFill>
                <a:latin typeface="Calibri"/>
              </a:rPr>
              <a:t>-</a:t>
            </a:r>
            <a:r>
              <a:rPr sz="1500" b="0" dirty="0">
                <a:solidFill>
                  <a:srgbClr val="787F88"/>
                </a:solidFill>
                <a:latin typeface="Calibri"/>
              </a:rPr>
              <a:t> end-to-end build</a:t>
            </a:r>
          </a:p>
        </p:txBody>
      </p:sp>
      <p:sp>
        <p:nvSpPr>
          <p:cNvPr id="13" name="TextBox 12">
            <a:extLst>
              <a:ext uri="{FF2B5EF4-FFF2-40B4-BE49-F238E27FC236}">
                <a16:creationId xmlns:a16="http://schemas.microsoft.com/office/drawing/2014/main" id="{2DEC5BEC-DF9B-0EFF-2425-8B3BBC24392A}"/>
              </a:ext>
            </a:extLst>
          </p:cNvPr>
          <p:cNvSpPr txBox="1"/>
          <p:nvPr/>
        </p:nvSpPr>
        <p:spPr>
          <a:xfrm>
            <a:off x="914400" y="3200895"/>
            <a:ext cx="10058400" cy="230832"/>
          </a:xfrm>
          <a:prstGeom prst="rect">
            <a:avLst/>
          </a:prstGeom>
          <a:noFill/>
        </p:spPr>
        <p:txBody>
          <a:bodyPr wrap="square" lIns="0" tIns="0" rIns="0" bIns="0">
            <a:spAutoFit/>
          </a:bodyPr>
          <a:lstStyle/>
          <a:p>
            <a:pPr algn="l"/>
            <a:r>
              <a:rPr sz="1500" b="0" dirty="0">
                <a:solidFill>
                  <a:srgbClr val="787F88"/>
                </a:solidFill>
                <a:latin typeface="Calibri"/>
              </a:rPr>
              <a:t>26,000 acquisitions · 17,000 churn events · 5 sales channels · 2023</a:t>
            </a:r>
            <a:r>
              <a:rPr lang="en-IE" sz="1500" b="0" dirty="0">
                <a:solidFill>
                  <a:srgbClr val="787F88"/>
                </a:solidFill>
                <a:latin typeface="Calibri"/>
              </a:rPr>
              <a:t>-</a:t>
            </a:r>
            <a:r>
              <a:rPr sz="1500" b="0" dirty="0">
                <a:solidFill>
                  <a:srgbClr val="787F88"/>
                </a:solidFill>
                <a:latin typeface="Calibri"/>
              </a:rPr>
              <a:t>2026</a:t>
            </a:r>
          </a:p>
        </p:txBody>
      </p:sp>
      <p:sp>
        <p:nvSpPr>
          <p:cNvPr id="14" name="TextBox 13">
            <a:extLst>
              <a:ext uri="{FF2B5EF4-FFF2-40B4-BE49-F238E27FC236}">
                <a16:creationId xmlns:a16="http://schemas.microsoft.com/office/drawing/2014/main" id="{1811F295-90D2-9B2E-DBD0-5265EADE5CA5}"/>
              </a:ext>
            </a:extLst>
          </p:cNvPr>
          <p:cNvSpPr txBox="1"/>
          <p:nvPr/>
        </p:nvSpPr>
        <p:spPr>
          <a:xfrm>
            <a:off x="914400" y="3511791"/>
            <a:ext cx="10058400" cy="320040"/>
          </a:xfrm>
          <a:prstGeom prst="rect">
            <a:avLst/>
          </a:prstGeom>
          <a:noFill/>
        </p:spPr>
        <p:txBody>
          <a:bodyPr wrap="square" lIns="0" tIns="0" rIns="0" bIns="0">
            <a:spAutoFit/>
          </a:bodyPr>
          <a:lstStyle/>
          <a:p>
            <a:pPr algn="l"/>
            <a:r>
              <a:rPr sz="1500" b="0">
                <a:solidFill>
                  <a:srgbClr val="787F88"/>
                </a:solidFill>
                <a:latin typeface="Calibri"/>
              </a:rPr>
              <a:t>Raw CSV → cleaning in Power Query → star schema → 29 DAX measures → report</a:t>
            </a:r>
          </a:p>
        </p:txBody>
      </p:sp>
      <p:sp>
        <p:nvSpPr>
          <p:cNvPr id="15" name="TextBox 14">
            <a:extLst>
              <a:ext uri="{FF2B5EF4-FFF2-40B4-BE49-F238E27FC236}">
                <a16:creationId xmlns:a16="http://schemas.microsoft.com/office/drawing/2014/main" id="{521D67F8-3A37-D83B-750B-7B6F603A3B24}"/>
              </a:ext>
            </a:extLst>
          </p:cNvPr>
          <p:cNvSpPr txBox="1"/>
          <p:nvPr/>
        </p:nvSpPr>
        <p:spPr>
          <a:xfrm>
            <a:off x="914400" y="4929111"/>
            <a:ext cx="7315200" cy="365760"/>
          </a:xfrm>
          <a:prstGeom prst="rect">
            <a:avLst/>
          </a:prstGeom>
          <a:noFill/>
        </p:spPr>
        <p:txBody>
          <a:bodyPr wrap="square" lIns="0" tIns="0" rIns="0" bIns="0">
            <a:spAutoFit/>
          </a:bodyPr>
          <a:lstStyle/>
          <a:p>
            <a:pPr algn="l"/>
            <a:r>
              <a:rPr sz="1800" b="1">
                <a:solidFill>
                  <a:srgbClr val="1A1D21"/>
                </a:solidFill>
                <a:latin typeface="Calibri"/>
              </a:rPr>
              <a:t>Marina Kulmane</a:t>
            </a:r>
          </a:p>
        </p:txBody>
      </p:sp>
      <p:sp>
        <p:nvSpPr>
          <p:cNvPr id="16" name="TextBox 15">
            <a:extLst>
              <a:ext uri="{FF2B5EF4-FFF2-40B4-BE49-F238E27FC236}">
                <a16:creationId xmlns:a16="http://schemas.microsoft.com/office/drawing/2014/main" id="{FFB71306-325B-BB53-35F4-97CEBC002486}"/>
              </a:ext>
            </a:extLst>
          </p:cNvPr>
          <p:cNvSpPr txBox="1"/>
          <p:nvPr/>
        </p:nvSpPr>
        <p:spPr>
          <a:xfrm>
            <a:off x="914400" y="5322303"/>
            <a:ext cx="9144000" cy="200055"/>
          </a:xfrm>
          <a:prstGeom prst="rect">
            <a:avLst/>
          </a:prstGeom>
          <a:noFill/>
        </p:spPr>
        <p:txBody>
          <a:bodyPr wrap="square" lIns="0" tIns="0" rIns="0" bIns="0">
            <a:spAutoFit/>
          </a:bodyPr>
          <a:lstStyle/>
          <a:p>
            <a:pPr algn="l"/>
            <a:r>
              <a:rPr sz="1300" b="0" dirty="0">
                <a:solidFill>
                  <a:srgbClr val="787F88"/>
                </a:solidFill>
                <a:latin typeface="Calibri"/>
              </a:rPr>
              <a:t>Synthetic data. Built to demonstrate method.</a:t>
            </a:r>
          </a:p>
        </p:txBody>
      </p:sp>
    </p:spTree>
    <p:extLst>
      <p:ext uri="{BB962C8B-B14F-4D97-AF65-F5344CB8AC3E}">
        <p14:creationId xmlns:p14="http://schemas.microsoft.com/office/powerpoint/2010/main" val="356344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F7B12-63CF-DAD2-1422-C5A07F3F27E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8718E5D-01FA-AED4-746F-5C54B5E8B150}"/>
              </a:ext>
            </a:extLst>
          </p:cNvPr>
          <p:cNvSpPr/>
          <p:nvPr/>
        </p:nvSpPr>
        <p:spPr>
          <a:xfrm>
            <a:off x="0" y="0"/>
            <a:ext cx="12191695" cy="50292"/>
          </a:xfrm>
          <a:prstGeom prst="rect">
            <a:avLst/>
          </a:prstGeom>
          <a:solidFill>
            <a:srgbClr val="0B5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A5FF6B80-3BFB-CFBB-D0C9-ED7572C4670C}"/>
              </a:ext>
            </a:extLst>
          </p:cNvPr>
          <p:cNvSpPr txBox="1"/>
          <p:nvPr/>
        </p:nvSpPr>
        <p:spPr>
          <a:xfrm>
            <a:off x="457200" y="292608"/>
            <a:ext cx="11338560" cy="548640"/>
          </a:xfrm>
          <a:prstGeom prst="rect">
            <a:avLst/>
          </a:prstGeom>
          <a:noFill/>
        </p:spPr>
        <p:txBody>
          <a:bodyPr wrap="square" lIns="0" tIns="0" rIns="0" bIns="0">
            <a:spAutoFit/>
          </a:bodyPr>
          <a:lstStyle/>
          <a:p>
            <a:pPr algn="l"/>
            <a:r>
              <a:rPr sz="3000" b="1" dirty="0">
                <a:solidFill>
                  <a:srgbClr val="1A1D21"/>
                </a:solidFill>
                <a:latin typeface="Calibri"/>
              </a:rPr>
              <a:t>The view a sales director opens in the morning</a:t>
            </a:r>
          </a:p>
        </p:txBody>
      </p:sp>
      <p:sp>
        <p:nvSpPr>
          <p:cNvPr id="5" name="TextBox 4">
            <a:extLst>
              <a:ext uri="{FF2B5EF4-FFF2-40B4-BE49-F238E27FC236}">
                <a16:creationId xmlns:a16="http://schemas.microsoft.com/office/drawing/2014/main" id="{CBE93BB8-E72D-52DE-7F84-C0201464C9E0}"/>
              </a:ext>
            </a:extLst>
          </p:cNvPr>
          <p:cNvSpPr txBox="1"/>
          <p:nvPr/>
        </p:nvSpPr>
        <p:spPr>
          <a:xfrm>
            <a:off x="457200" y="777240"/>
            <a:ext cx="11338560" cy="230832"/>
          </a:xfrm>
          <a:prstGeom prst="rect">
            <a:avLst/>
          </a:prstGeom>
          <a:noFill/>
        </p:spPr>
        <p:txBody>
          <a:bodyPr wrap="square" lIns="0" tIns="0" rIns="0" bIns="0">
            <a:spAutoFit/>
          </a:bodyPr>
          <a:lstStyle/>
          <a:p>
            <a:pPr algn="l"/>
            <a:r>
              <a:rPr sz="1500" b="0" dirty="0">
                <a:solidFill>
                  <a:srgbClr val="787F88"/>
                </a:solidFill>
                <a:latin typeface="Calibri"/>
              </a:rPr>
              <a:t>One page: volume, cost, plan vs actual, churn </a:t>
            </a:r>
            <a:r>
              <a:rPr lang="en-IE" sz="1500" b="0" dirty="0">
                <a:solidFill>
                  <a:srgbClr val="787F88"/>
                </a:solidFill>
                <a:latin typeface="Calibri"/>
              </a:rPr>
              <a:t>-</a:t>
            </a:r>
            <a:r>
              <a:rPr sz="1500" b="0" dirty="0">
                <a:solidFill>
                  <a:srgbClr val="787F88"/>
                </a:solidFill>
                <a:latin typeface="Calibri"/>
              </a:rPr>
              <a:t> filtered by segment and region.</a:t>
            </a:r>
          </a:p>
        </p:txBody>
      </p:sp>
      <p:sp>
        <p:nvSpPr>
          <p:cNvPr id="6" name="TextBox 5">
            <a:extLst>
              <a:ext uri="{FF2B5EF4-FFF2-40B4-BE49-F238E27FC236}">
                <a16:creationId xmlns:a16="http://schemas.microsoft.com/office/drawing/2014/main" id="{4C588E9D-9F8C-EF8C-79CA-87BDCFC3049D}"/>
              </a:ext>
            </a:extLst>
          </p:cNvPr>
          <p:cNvSpPr txBox="1"/>
          <p:nvPr/>
        </p:nvSpPr>
        <p:spPr>
          <a:xfrm>
            <a:off x="1567875" y="6231744"/>
            <a:ext cx="8229600" cy="365760"/>
          </a:xfrm>
          <a:prstGeom prst="rect">
            <a:avLst/>
          </a:prstGeom>
          <a:noFill/>
        </p:spPr>
        <p:txBody>
          <a:bodyPr wrap="square" lIns="0" tIns="0" rIns="0" bIns="0">
            <a:spAutoFit/>
          </a:bodyPr>
          <a:lstStyle/>
          <a:p>
            <a:pPr algn="l"/>
            <a:r>
              <a:rPr sz="1300" b="0" dirty="0">
                <a:solidFill>
                  <a:srgbClr val="787F88"/>
                </a:solidFill>
                <a:latin typeface="Calibri"/>
              </a:rPr>
              <a:t>Every card is a DAX measure, not a hard-coded number.</a:t>
            </a:r>
          </a:p>
        </p:txBody>
      </p:sp>
      <p:sp>
        <p:nvSpPr>
          <p:cNvPr id="7" name="TextBox 6">
            <a:extLst>
              <a:ext uri="{FF2B5EF4-FFF2-40B4-BE49-F238E27FC236}">
                <a16:creationId xmlns:a16="http://schemas.microsoft.com/office/drawing/2014/main" id="{FB830AB3-3CB1-8E73-EE47-27B1536F24E5}"/>
              </a:ext>
            </a:extLst>
          </p:cNvPr>
          <p:cNvSpPr txBox="1"/>
          <p:nvPr/>
        </p:nvSpPr>
        <p:spPr>
          <a:xfrm>
            <a:off x="7772400" y="6565392"/>
            <a:ext cx="3962095" cy="365760"/>
          </a:xfrm>
          <a:prstGeom prst="rect">
            <a:avLst/>
          </a:prstGeom>
          <a:noFill/>
        </p:spPr>
        <p:txBody>
          <a:bodyPr wrap="square" lIns="0" tIns="0" rIns="0" bIns="0">
            <a:spAutoFit/>
          </a:bodyPr>
          <a:lstStyle/>
          <a:p>
            <a:pPr algn="r"/>
            <a:r>
              <a:rPr sz="1300" b="0">
                <a:solidFill>
                  <a:srgbClr val="787F88"/>
                </a:solidFill>
                <a:latin typeface="Calibri"/>
              </a:rPr>
              <a:t>Shannon Energy · Power BI demo</a:t>
            </a:r>
          </a:p>
        </p:txBody>
      </p:sp>
      <p:pic>
        <p:nvPicPr>
          <p:cNvPr id="8" name="Picture 7">
            <a:extLst>
              <a:ext uri="{FF2B5EF4-FFF2-40B4-BE49-F238E27FC236}">
                <a16:creationId xmlns:a16="http://schemas.microsoft.com/office/drawing/2014/main" id="{D64B1BB7-0312-203D-7141-5014C12135C9}"/>
              </a:ext>
            </a:extLst>
          </p:cNvPr>
          <p:cNvPicPr>
            <a:picLocks noChangeAspect="1"/>
          </p:cNvPicPr>
          <p:nvPr/>
        </p:nvPicPr>
        <p:blipFill>
          <a:blip r:embed="rId3"/>
          <a:stretch>
            <a:fillRect/>
          </a:stretch>
        </p:blipFill>
        <p:spPr>
          <a:xfrm>
            <a:off x="1567875" y="1069960"/>
            <a:ext cx="9055943" cy="5099896"/>
          </a:xfrm>
          <a:prstGeom prst="roundRect">
            <a:avLst>
              <a:gd name="adj" fmla="val 2655"/>
            </a:avLst>
          </a:prstGeom>
        </p:spPr>
      </p:pic>
    </p:spTree>
    <p:extLst>
      <p:ext uri="{BB962C8B-B14F-4D97-AF65-F5344CB8AC3E}">
        <p14:creationId xmlns:p14="http://schemas.microsoft.com/office/powerpoint/2010/main" val="2383651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03905-75D6-1C77-AC25-DFA9C4EA93D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FE560FD-4E36-EBA0-1ED9-F9B3EE78176D}"/>
              </a:ext>
            </a:extLst>
          </p:cNvPr>
          <p:cNvPicPr>
            <a:picLocks noChangeAspect="1"/>
          </p:cNvPicPr>
          <p:nvPr/>
        </p:nvPicPr>
        <p:blipFill>
          <a:blip r:embed="rId3"/>
          <a:srcRect r="10316" b="38842"/>
          <a:stretch>
            <a:fillRect/>
          </a:stretch>
        </p:blipFill>
        <p:spPr>
          <a:xfrm>
            <a:off x="1468374" y="1517554"/>
            <a:ext cx="9255251" cy="3140079"/>
          </a:xfrm>
          <a:prstGeom prst="roundRect">
            <a:avLst>
              <a:gd name="adj" fmla="val 4861"/>
            </a:avLst>
          </a:prstGeom>
        </p:spPr>
      </p:pic>
      <p:sp>
        <p:nvSpPr>
          <p:cNvPr id="3" name="Rectangle 2">
            <a:extLst>
              <a:ext uri="{FF2B5EF4-FFF2-40B4-BE49-F238E27FC236}">
                <a16:creationId xmlns:a16="http://schemas.microsoft.com/office/drawing/2014/main" id="{984550EA-3F74-8B0B-30ED-AEB8CEBB3D27}"/>
              </a:ext>
            </a:extLst>
          </p:cNvPr>
          <p:cNvSpPr/>
          <p:nvPr/>
        </p:nvSpPr>
        <p:spPr>
          <a:xfrm>
            <a:off x="0" y="0"/>
            <a:ext cx="12191695" cy="50292"/>
          </a:xfrm>
          <a:prstGeom prst="rect">
            <a:avLst/>
          </a:prstGeom>
          <a:solidFill>
            <a:srgbClr val="0B5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CEE6D853-6982-6976-B482-54F84767D1CF}"/>
              </a:ext>
            </a:extLst>
          </p:cNvPr>
          <p:cNvSpPr txBox="1"/>
          <p:nvPr/>
        </p:nvSpPr>
        <p:spPr>
          <a:xfrm>
            <a:off x="457200" y="292608"/>
            <a:ext cx="11338560" cy="548640"/>
          </a:xfrm>
          <a:prstGeom prst="rect">
            <a:avLst/>
          </a:prstGeom>
          <a:noFill/>
        </p:spPr>
        <p:txBody>
          <a:bodyPr wrap="square" lIns="0" tIns="0" rIns="0" bIns="0">
            <a:spAutoFit/>
          </a:bodyPr>
          <a:lstStyle/>
          <a:p>
            <a:pPr algn="l"/>
            <a:r>
              <a:rPr sz="3000" b="1">
                <a:solidFill>
                  <a:srgbClr val="1A1D21"/>
                </a:solidFill>
                <a:latin typeface="Calibri"/>
              </a:rPr>
              <a:t>The cheapest channel to acquire is the least valuable to keep</a:t>
            </a:r>
          </a:p>
        </p:txBody>
      </p:sp>
      <p:sp>
        <p:nvSpPr>
          <p:cNvPr id="6" name="TextBox 5">
            <a:extLst>
              <a:ext uri="{FF2B5EF4-FFF2-40B4-BE49-F238E27FC236}">
                <a16:creationId xmlns:a16="http://schemas.microsoft.com/office/drawing/2014/main" id="{EA3B3B19-75BB-8B42-5209-358F6CAC83A1}"/>
              </a:ext>
            </a:extLst>
          </p:cNvPr>
          <p:cNvSpPr txBox="1"/>
          <p:nvPr/>
        </p:nvSpPr>
        <p:spPr>
          <a:xfrm>
            <a:off x="457200" y="777240"/>
            <a:ext cx="11338560" cy="365760"/>
          </a:xfrm>
          <a:prstGeom prst="rect">
            <a:avLst/>
          </a:prstGeom>
          <a:noFill/>
        </p:spPr>
        <p:txBody>
          <a:bodyPr wrap="square" lIns="0" tIns="0" rIns="0" bIns="0">
            <a:spAutoFit/>
          </a:bodyPr>
          <a:lstStyle/>
          <a:p>
            <a:pPr algn="l"/>
            <a:r>
              <a:rPr sz="1500" b="0" dirty="0">
                <a:solidFill>
                  <a:srgbClr val="787F88"/>
                </a:solidFill>
                <a:latin typeface="Calibri"/>
              </a:rPr>
              <a:t>B2C: acquisitions, CPA, 12-month retention, cost per retained customer, contribution.</a:t>
            </a:r>
          </a:p>
        </p:txBody>
      </p:sp>
      <p:sp>
        <p:nvSpPr>
          <p:cNvPr id="7" name="TextBox 6">
            <a:extLst>
              <a:ext uri="{FF2B5EF4-FFF2-40B4-BE49-F238E27FC236}">
                <a16:creationId xmlns:a16="http://schemas.microsoft.com/office/drawing/2014/main" id="{5DFB5869-EB65-E68A-8FDB-26A0F02CE4E6}"/>
              </a:ext>
            </a:extLst>
          </p:cNvPr>
          <p:cNvSpPr txBox="1"/>
          <p:nvPr/>
        </p:nvSpPr>
        <p:spPr>
          <a:xfrm>
            <a:off x="1468374" y="4940336"/>
            <a:ext cx="8229600" cy="400110"/>
          </a:xfrm>
          <a:prstGeom prst="rect">
            <a:avLst/>
          </a:prstGeom>
          <a:noFill/>
        </p:spPr>
        <p:txBody>
          <a:bodyPr wrap="square" lIns="0" tIns="0" rIns="0" bIns="0">
            <a:spAutoFit/>
          </a:bodyPr>
          <a:lstStyle/>
          <a:p>
            <a:pPr algn="l"/>
            <a:r>
              <a:rPr lang="en-IE" sz="1300" b="0" dirty="0">
                <a:solidFill>
                  <a:srgbClr val="787F88"/>
                </a:solidFill>
                <a:latin typeface="Calibri"/>
              </a:rPr>
              <a:t>Price Comparison: CPA €46 - the lowest. Retention 35.9% - the lowest.</a:t>
            </a:r>
          </a:p>
          <a:p>
            <a:pPr algn="l"/>
            <a:endParaRPr lang="en-IE" sz="1300" b="0" dirty="0">
              <a:solidFill>
                <a:srgbClr val="787F88"/>
              </a:solidFill>
              <a:latin typeface="Calibri"/>
            </a:endParaRPr>
          </a:p>
        </p:txBody>
      </p:sp>
      <p:sp>
        <p:nvSpPr>
          <p:cNvPr id="8" name="TextBox 7">
            <a:extLst>
              <a:ext uri="{FF2B5EF4-FFF2-40B4-BE49-F238E27FC236}">
                <a16:creationId xmlns:a16="http://schemas.microsoft.com/office/drawing/2014/main" id="{FA512224-C463-89D1-4F3A-CD898602A435}"/>
              </a:ext>
            </a:extLst>
          </p:cNvPr>
          <p:cNvSpPr txBox="1"/>
          <p:nvPr/>
        </p:nvSpPr>
        <p:spPr>
          <a:xfrm>
            <a:off x="7772400" y="6565392"/>
            <a:ext cx="3962095" cy="365760"/>
          </a:xfrm>
          <a:prstGeom prst="rect">
            <a:avLst/>
          </a:prstGeom>
          <a:noFill/>
        </p:spPr>
        <p:txBody>
          <a:bodyPr wrap="square" lIns="0" tIns="0" rIns="0" bIns="0">
            <a:spAutoFit/>
          </a:bodyPr>
          <a:lstStyle/>
          <a:p>
            <a:pPr algn="r"/>
            <a:r>
              <a:rPr sz="1300" b="0">
                <a:solidFill>
                  <a:srgbClr val="787F88"/>
                </a:solidFill>
                <a:latin typeface="Calibri"/>
              </a:rPr>
              <a:t>Shannon Energy · Power BI demo</a:t>
            </a:r>
          </a:p>
        </p:txBody>
      </p:sp>
    </p:spTree>
    <p:extLst>
      <p:ext uri="{BB962C8B-B14F-4D97-AF65-F5344CB8AC3E}">
        <p14:creationId xmlns:p14="http://schemas.microsoft.com/office/powerpoint/2010/main" val="3362330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40702-ACF3-3A15-B35A-3377B9234CB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B212397-1DC2-A619-BB83-9EE989F4AC3D}"/>
              </a:ext>
            </a:extLst>
          </p:cNvPr>
          <p:cNvPicPr>
            <a:picLocks noChangeAspect="1"/>
          </p:cNvPicPr>
          <p:nvPr/>
        </p:nvPicPr>
        <p:blipFill>
          <a:blip r:embed="rId3"/>
          <a:stretch>
            <a:fillRect/>
          </a:stretch>
        </p:blipFill>
        <p:spPr>
          <a:xfrm>
            <a:off x="1873799" y="1421027"/>
            <a:ext cx="8444401" cy="4201298"/>
          </a:xfrm>
          <a:prstGeom prst="roundRect">
            <a:avLst>
              <a:gd name="adj" fmla="val 2843"/>
            </a:avLst>
          </a:prstGeom>
        </p:spPr>
      </p:pic>
      <p:sp>
        <p:nvSpPr>
          <p:cNvPr id="4" name="Rectangle 3">
            <a:extLst>
              <a:ext uri="{FF2B5EF4-FFF2-40B4-BE49-F238E27FC236}">
                <a16:creationId xmlns:a16="http://schemas.microsoft.com/office/drawing/2014/main" id="{3BB80209-3551-1B9E-D672-BEE32918DEFD}"/>
              </a:ext>
            </a:extLst>
          </p:cNvPr>
          <p:cNvSpPr/>
          <p:nvPr/>
        </p:nvSpPr>
        <p:spPr>
          <a:xfrm>
            <a:off x="0" y="0"/>
            <a:ext cx="12191695" cy="50292"/>
          </a:xfrm>
          <a:prstGeom prst="rect">
            <a:avLst/>
          </a:prstGeom>
          <a:solidFill>
            <a:srgbClr val="0B5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0FA8F80E-5B2E-664C-8EEF-457FE0DF51C1}"/>
              </a:ext>
            </a:extLst>
          </p:cNvPr>
          <p:cNvSpPr txBox="1"/>
          <p:nvPr/>
        </p:nvSpPr>
        <p:spPr>
          <a:xfrm>
            <a:off x="457200" y="292608"/>
            <a:ext cx="11338560" cy="461665"/>
          </a:xfrm>
          <a:prstGeom prst="rect">
            <a:avLst/>
          </a:prstGeom>
          <a:noFill/>
        </p:spPr>
        <p:txBody>
          <a:bodyPr wrap="square" lIns="0" tIns="0" rIns="0" bIns="0">
            <a:spAutoFit/>
          </a:bodyPr>
          <a:lstStyle/>
          <a:p>
            <a:pPr algn="l"/>
            <a:r>
              <a:rPr sz="3000" b="1" dirty="0">
                <a:solidFill>
                  <a:srgbClr val="1A1D21"/>
                </a:solidFill>
                <a:latin typeface="Calibri"/>
              </a:rPr>
              <a:t>Low cost, low loyalty </a:t>
            </a:r>
            <a:r>
              <a:rPr lang="en-IE" sz="3000" b="1" dirty="0">
                <a:solidFill>
                  <a:srgbClr val="1A1D21"/>
                </a:solidFill>
                <a:latin typeface="Calibri"/>
              </a:rPr>
              <a:t>-</a:t>
            </a:r>
            <a:r>
              <a:rPr sz="3000" b="1" dirty="0">
                <a:solidFill>
                  <a:srgbClr val="1A1D21"/>
                </a:solidFill>
                <a:latin typeface="Calibri"/>
              </a:rPr>
              <a:t> Price Comparison sits alone</a:t>
            </a:r>
          </a:p>
        </p:txBody>
      </p:sp>
      <p:sp>
        <p:nvSpPr>
          <p:cNvPr id="6" name="TextBox 5">
            <a:extLst>
              <a:ext uri="{FF2B5EF4-FFF2-40B4-BE49-F238E27FC236}">
                <a16:creationId xmlns:a16="http://schemas.microsoft.com/office/drawing/2014/main" id="{7EFC4770-7D2D-6BFA-C175-9A9BD30EC23C}"/>
              </a:ext>
            </a:extLst>
          </p:cNvPr>
          <p:cNvSpPr txBox="1"/>
          <p:nvPr/>
        </p:nvSpPr>
        <p:spPr>
          <a:xfrm>
            <a:off x="457200" y="777240"/>
            <a:ext cx="11338560" cy="365760"/>
          </a:xfrm>
          <a:prstGeom prst="rect">
            <a:avLst/>
          </a:prstGeom>
          <a:noFill/>
        </p:spPr>
        <p:txBody>
          <a:bodyPr wrap="square" lIns="0" tIns="0" rIns="0" bIns="0">
            <a:spAutoFit/>
          </a:bodyPr>
          <a:lstStyle/>
          <a:p>
            <a:pPr algn="l"/>
            <a:r>
              <a:rPr sz="1500" b="0">
                <a:solidFill>
                  <a:srgbClr val="787F88"/>
                </a:solidFill>
                <a:latin typeface="Calibri"/>
              </a:rPr>
              <a:t>CPA against 12-month retention. Bubble size = acquisitions.</a:t>
            </a:r>
          </a:p>
        </p:txBody>
      </p:sp>
      <p:sp>
        <p:nvSpPr>
          <p:cNvPr id="7" name="TextBox 6">
            <a:extLst>
              <a:ext uri="{FF2B5EF4-FFF2-40B4-BE49-F238E27FC236}">
                <a16:creationId xmlns:a16="http://schemas.microsoft.com/office/drawing/2014/main" id="{5DECA791-0FF8-26C8-B584-31BD185BFDB0}"/>
              </a:ext>
            </a:extLst>
          </p:cNvPr>
          <p:cNvSpPr txBox="1"/>
          <p:nvPr/>
        </p:nvSpPr>
        <p:spPr>
          <a:xfrm>
            <a:off x="1873799" y="5776555"/>
            <a:ext cx="8229600" cy="400110"/>
          </a:xfrm>
          <a:prstGeom prst="rect">
            <a:avLst/>
          </a:prstGeom>
          <a:noFill/>
        </p:spPr>
        <p:txBody>
          <a:bodyPr wrap="square" lIns="0" tIns="0" rIns="0" bIns="0">
            <a:spAutoFit/>
          </a:bodyPr>
          <a:lstStyle/>
          <a:p>
            <a:pPr algn="l"/>
            <a:r>
              <a:rPr lang="en-IE" sz="1300" b="0" dirty="0">
                <a:solidFill>
                  <a:srgbClr val="787F88"/>
                </a:solidFill>
                <a:latin typeface="Calibri"/>
              </a:rPr>
              <a:t>Cost per retained customer turns €46 into €128. Field Sales turns €151 into €183.</a:t>
            </a:r>
          </a:p>
          <a:p>
            <a:pPr algn="l"/>
            <a:endParaRPr lang="en-IE" sz="1300" b="0" dirty="0">
              <a:solidFill>
                <a:srgbClr val="787F88"/>
              </a:solidFill>
              <a:latin typeface="Calibri"/>
            </a:endParaRPr>
          </a:p>
        </p:txBody>
      </p:sp>
      <p:sp>
        <p:nvSpPr>
          <p:cNvPr id="8" name="TextBox 7">
            <a:extLst>
              <a:ext uri="{FF2B5EF4-FFF2-40B4-BE49-F238E27FC236}">
                <a16:creationId xmlns:a16="http://schemas.microsoft.com/office/drawing/2014/main" id="{898641E7-6D5C-DF28-9239-7103CFE3798B}"/>
              </a:ext>
            </a:extLst>
          </p:cNvPr>
          <p:cNvSpPr txBox="1"/>
          <p:nvPr/>
        </p:nvSpPr>
        <p:spPr>
          <a:xfrm>
            <a:off x="7772400" y="6565392"/>
            <a:ext cx="3962095" cy="365760"/>
          </a:xfrm>
          <a:prstGeom prst="rect">
            <a:avLst/>
          </a:prstGeom>
          <a:noFill/>
        </p:spPr>
        <p:txBody>
          <a:bodyPr wrap="square" lIns="0" tIns="0" rIns="0" bIns="0">
            <a:spAutoFit/>
          </a:bodyPr>
          <a:lstStyle/>
          <a:p>
            <a:pPr algn="r"/>
            <a:r>
              <a:rPr sz="1300" b="0">
                <a:solidFill>
                  <a:srgbClr val="787F88"/>
                </a:solidFill>
                <a:latin typeface="Calibri"/>
              </a:rPr>
              <a:t>Shannon Energy · Power BI demo</a:t>
            </a:r>
          </a:p>
        </p:txBody>
      </p:sp>
    </p:spTree>
    <p:extLst>
      <p:ext uri="{BB962C8B-B14F-4D97-AF65-F5344CB8AC3E}">
        <p14:creationId xmlns:p14="http://schemas.microsoft.com/office/powerpoint/2010/main" val="1527415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96E3-7C6F-9DF3-B26B-A6BBF91E37D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08ED572-0BF9-1E2B-B729-7B96A5599172}"/>
              </a:ext>
            </a:extLst>
          </p:cNvPr>
          <p:cNvPicPr>
            <a:picLocks noChangeAspect="1"/>
          </p:cNvPicPr>
          <p:nvPr/>
        </p:nvPicPr>
        <p:blipFill>
          <a:blip r:embed="rId3"/>
          <a:stretch>
            <a:fillRect/>
          </a:stretch>
        </p:blipFill>
        <p:spPr>
          <a:xfrm>
            <a:off x="1116413" y="1125825"/>
            <a:ext cx="9959173" cy="4954935"/>
          </a:xfrm>
          <a:prstGeom prst="roundRect">
            <a:avLst>
              <a:gd name="adj" fmla="val 2379"/>
            </a:avLst>
          </a:prstGeom>
        </p:spPr>
      </p:pic>
      <p:sp>
        <p:nvSpPr>
          <p:cNvPr id="4" name="Rectangle 3">
            <a:extLst>
              <a:ext uri="{FF2B5EF4-FFF2-40B4-BE49-F238E27FC236}">
                <a16:creationId xmlns:a16="http://schemas.microsoft.com/office/drawing/2014/main" id="{E5B79F0A-023E-9C0E-D3C5-669234DACAC6}"/>
              </a:ext>
            </a:extLst>
          </p:cNvPr>
          <p:cNvSpPr/>
          <p:nvPr/>
        </p:nvSpPr>
        <p:spPr>
          <a:xfrm>
            <a:off x="0" y="0"/>
            <a:ext cx="12191695" cy="50292"/>
          </a:xfrm>
          <a:prstGeom prst="rect">
            <a:avLst/>
          </a:prstGeom>
          <a:solidFill>
            <a:srgbClr val="0B5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19900EA2-9FCF-3856-3366-8AE5E75BAAAC}"/>
              </a:ext>
            </a:extLst>
          </p:cNvPr>
          <p:cNvSpPr txBox="1"/>
          <p:nvPr/>
        </p:nvSpPr>
        <p:spPr>
          <a:xfrm>
            <a:off x="457200" y="292608"/>
            <a:ext cx="11338560" cy="548640"/>
          </a:xfrm>
          <a:prstGeom prst="rect">
            <a:avLst/>
          </a:prstGeom>
          <a:noFill/>
        </p:spPr>
        <p:txBody>
          <a:bodyPr wrap="square" lIns="0" tIns="0" rIns="0" bIns="0">
            <a:spAutoFit/>
          </a:bodyPr>
          <a:lstStyle/>
          <a:p>
            <a:pPr algn="l"/>
            <a:r>
              <a:rPr sz="3000" b="1" dirty="0">
                <a:solidFill>
                  <a:srgbClr val="1A1D21"/>
                </a:solidFill>
                <a:latin typeface="Calibri"/>
              </a:rPr>
              <a:t>The curves diverge when the twelve-month discount ends</a:t>
            </a:r>
          </a:p>
        </p:txBody>
      </p:sp>
      <p:sp>
        <p:nvSpPr>
          <p:cNvPr id="6" name="TextBox 5">
            <a:extLst>
              <a:ext uri="{FF2B5EF4-FFF2-40B4-BE49-F238E27FC236}">
                <a16:creationId xmlns:a16="http://schemas.microsoft.com/office/drawing/2014/main" id="{0F823CE1-9F9B-033C-7B4E-8FE3D1AB7E0B}"/>
              </a:ext>
            </a:extLst>
          </p:cNvPr>
          <p:cNvSpPr txBox="1"/>
          <p:nvPr/>
        </p:nvSpPr>
        <p:spPr>
          <a:xfrm>
            <a:off x="457200" y="777240"/>
            <a:ext cx="11338560" cy="365760"/>
          </a:xfrm>
          <a:prstGeom prst="rect">
            <a:avLst/>
          </a:prstGeom>
          <a:noFill/>
        </p:spPr>
        <p:txBody>
          <a:bodyPr wrap="square" lIns="0" tIns="0" rIns="0" bIns="0">
            <a:spAutoFit/>
          </a:bodyPr>
          <a:lstStyle/>
          <a:p>
            <a:pPr algn="l"/>
            <a:r>
              <a:rPr sz="1500" b="0">
                <a:solidFill>
                  <a:srgbClr val="787F88"/>
                </a:solidFill>
                <a:latin typeface="Calibri"/>
              </a:rPr>
              <a:t>Retention curve by months since acquisition, by channel.</a:t>
            </a:r>
          </a:p>
        </p:txBody>
      </p:sp>
      <p:sp>
        <p:nvSpPr>
          <p:cNvPr id="7" name="TextBox 6">
            <a:extLst>
              <a:ext uri="{FF2B5EF4-FFF2-40B4-BE49-F238E27FC236}">
                <a16:creationId xmlns:a16="http://schemas.microsoft.com/office/drawing/2014/main" id="{AEDAF804-281C-F341-AFAE-665E1F0CB869}"/>
              </a:ext>
            </a:extLst>
          </p:cNvPr>
          <p:cNvSpPr txBox="1"/>
          <p:nvPr/>
        </p:nvSpPr>
        <p:spPr>
          <a:xfrm>
            <a:off x="1116413" y="6165282"/>
            <a:ext cx="8229600" cy="400110"/>
          </a:xfrm>
          <a:prstGeom prst="rect">
            <a:avLst/>
          </a:prstGeom>
          <a:noFill/>
        </p:spPr>
        <p:txBody>
          <a:bodyPr wrap="square" lIns="0" tIns="0" rIns="0" bIns="0">
            <a:spAutoFit/>
          </a:bodyPr>
          <a:lstStyle/>
          <a:p>
            <a:pPr algn="l"/>
            <a:r>
              <a:rPr lang="en-IE" sz="1300" b="0" dirty="0">
                <a:solidFill>
                  <a:srgbClr val="787F88"/>
                </a:solidFill>
                <a:latin typeface="Calibri"/>
              </a:rPr>
              <a:t>Cohorts too young to have reached month N are excluded, not counted as retained.</a:t>
            </a:r>
          </a:p>
          <a:p>
            <a:pPr algn="l"/>
            <a:endParaRPr lang="en-IE" sz="1300" b="0" dirty="0">
              <a:solidFill>
                <a:srgbClr val="787F88"/>
              </a:solidFill>
              <a:latin typeface="Calibri"/>
            </a:endParaRPr>
          </a:p>
        </p:txBody>
      </p:sp>
      <p:sp>
        <p:nvSpPr>
          <p:cNvPr id="8" name="TextBox 7">
            <a:extLst>
              <a:ext uri="{FF2B5EF4-FFF2-40B4-BE49-F238E27FC236}">
                <a16:creationId xmlns:a16="http://schemas.microsoft.com/office/drawing/2014/main" id="{518F68F8-53BB-A799-3AEE-DDEEEFFA988E}"/>
              </a:ext>
            </a:extLst>
          </p:cNvPr>
          <p:cNvSpPr txBox="1"/>
          <p:nvPr/>
        </p:nvSpPr>
        <p:spPr>
          <a:xfrm>
            <a:off x="7772400" y="6565392"/>
            <a:ext cx="3962095" cy="365760"/>
          </a:xfrm>
          <a:prstGeom prst="rect">
            <a:avLst/>
          </a:prstGeom>
          <a:noFill/>
        </p:spPr>
        <p:txBody>
          <a:bodyPr wrap="square" lIns="0" tIns="0" rIns="0" bIns="0">
            <a:spAutoFit/>
          </a:bodyPr>
          <a:lstStyle/>
          <a:p>
            <a:pPr algn="r"/>
            <a:r>
              <a:rPr sz="1300" b="0">
                <a:solidFill>
                  <a:srgbClr val="787F88"/>
                </a:solidFill>
                <a:latin typeface="Calibri"/>
              </a:rPr>
              <a:t>Shannon Energy · Power BI demo</a:t>
            </a:r>
          </a:p>
        </p:txBody>
      </p:sp>
    </p:spTree>
    <p:extLst>
      <p:ext uri="{BB962C8B-B14F-4D97-AF65-F5344CB8AC3E}">
        <p14:creationId xmlns:p14="http://schemas.microsoft.com/office/powerpoint/2010/main" val="3893577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4DA15-9ABE-CFCF-B194-7BDFD82F416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75AA0AD-4EF0-E81C-C5B0-57F1997A16E3}"/>
              </a:ext>
            </a:extLst>
          </p:cNvPr>
          <p:cNvPicPr>
            <a:picLocks noChangeAspect="1"/>
          </p:cNvPicPr>
          <p:nvPr/>
        </p:nvPicPr>
        <p:blipFill>
          <a:blip r:embed="rId3"/>
          <a:stretch>
            <a:fillRect/>
          </a:stretch>
        </p:blipFill>
        <p:spPr>
          <a:xfrm>
            <a:off x="1691522" y="1486786"/>
            <a:ext cx="8808955" cy="4382673"/>
          </a:xfrm>
          <a:prstGeom prst="roundRect">
            <a:avLst>
              <a:gd name="adj" fmla="val 2852"/>
            </a:avLst>
          </a:prstGeom>
        </p:spPr>
      </p:pic>
      <p:sp>
        <p:nvSpPr>
          <p:cNvPr id="4" name="Rectangle 3">
            <a:extLst>
              <a:ext uri="{FF2B5EF4-FFF2-40B4-BE49-F238E27FC236}">
                <a16:creationId xmlns:a16="http://schemas.microsoft.com/office/drawing/2014/main" id="{87278E57-59AF-0F24-13C9-7652E79C2BE9}"/>
              </a:ext>
            </a:extLst>
          </p:cNvPr>
          <p:cNvSpPr/>
          <p:nvPr/>
        </p:nvSpPr>
        <p:spPr>
          <a:xfrm>
            <a:off x="0" y="0"/>
            <a:ext cx="12191695" cy="50292"/>
          </a:xfrm>
          <a:prstGeom prst="rect">
            <a:avLst/>
          </a:prstGeom>
          <a:solidFill>
            <a:srgbClr val="0B5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12DD1507-0E55-3B8C-E1B1-0592EE558E3A}"/>
              </a:ext>
            </a:extLst>
          </p:cNvPr>
          <p:cNvSpPr txBox="1"/>
          <p:nvPr/>
        </p:nvSpPr>
        <p:spPr>
          <a:xfrm>
            <a:off x="457200" y="292608"/>
            <a:ext cx="11338560" cy="548640"/>
          </a:xfrm>
          <a:prstGeom prst="rect">
            <a:avLst/>
          </a:prstGeom>
          <a:noFill/>
        </p:spPr>
        <p:txBody>
          <a:bodyPr wrap="square" lIns="0" tIns="0" rIns="0" bIns="0">
            <a:spAutoFit/>
          </a:bodyPr>
          <a:lstStyle/>
          <a:p>
            <a:pPr algn="l"/>
            <a:r>
              <a:rPr sz="3000" b="1" dirty="0">
                <a:solidFill>
                  <a:srgbClr val="1A1D21"/>
                </a:solidFill>
                <a:latin typeface="Calibri"/>
              </a:rPr>
              <a:t>Blanks are cohorts too young to measure</a:t>
            </a:r>
          </a:p>
        </p:txBody>
      </p:sp>
      <p:sp>
        <p:nvSpPr>
          <p:cNvPr id="6" name="TextBox 5">
            <a:extLst>
              <a:ext uri="{FF2B5EF4-FFF2-40B4-BE49-F238E27FC236}">
                <a16:creationId xmlns:a16="http://schemas.microsoft.com/office/drawing/2014/main" id="{DEE8B905-0EAA-434C-FF0F-26DC7D40231C}"/>
              </a:ext>
            </a:extLst>
          </p:cNvPr>
          <p:cNvSpPr txBox="1"/>
          <p:nvPr/>
        </p:nvSpPr>
        <p:spPr>
          <a:xfrm>
            <a:off x="457200" y="777240"/>
            <a:ext cx="11338560" cy="230832"/>
          </a:xfrm>
          <a:prstGeom prst="rect">
            <a:avLst/>
          </a:prstGeom>
          <a:noFill/>
        </p:spPr>
        <p:txBody>
          <a:bodyPr wrap="square" lIns="0" tIns="0" rIns="0" bIns="0">
            <a:spAutoFit/>
          </a:bodyPr>
          <a:lstStyle/>
          <a:p>
            <a:pPr algn="l"/>
            <a:r>
              <a:rPr sz="1500" b="0" dirty="0">
                <a:solidFill>
                  <a:srgbClr val="787F88"/>
                </a:solidFill>
                <a:latin typeface="Calibri"/>
              </a:rPr>
              <a:t>Cohort matrix: acquisition month </a:t>
            </a:r>
            <a:r>
              <a:rPr lang="en-IE" sz="1500" b="0" dirty="0">
                <a:solidFill>
                  <a:srgbClr val="787F88"/>
                </a:solidFill>
                <a:latin typeface="Calibri"/>
              </a:rPr>
              <a:t>*</a:t>
            </a:r>
            <a:r>
              <a:rPr sz="1500" b="0" dirty="0">
                <a:solidFill>
                  <a:srgbClr val="787F88"/>
                </a:solidFill>
                <a:latin typeface="Calibri"/>
              </a:rPr>
              <a:t> months since acquisition.</a:t>
            </a:r>
          </a:p>
        </p:txBody>
      </p:sp>
      <p:sp>
        <p:nvSpPr>
          <p:cNvPr id="7" name="TextBox 6">
            <a:extLst>
              <a:ext uri="{FF2B5EF4-FFF2-40B4-BE49-F238E27FC236}">
                <a16:creationId xmlns:a16="http://schemas.microsoft.com/office/drawing/2014/main" id="{69E7FE0A-0205-9A86-FC87-180C83E9EA18}"/>
              </a:ext>
            </a:extLst>
          </p:cNvPr>
          <p:cNvSpPr txBox="1"/>
          <p:nvPr/>
        </p:nvSpPr>
        <p:spPr>
          <a:xfrm>
            <a:off x="1691522" y="5948063"/>
            <a:ext cx="8229600" cy="400110"/>
          </a:xfrm>
          <a:prstGeom prst="rect">
            <a:avLst/>
          </a:prstGeom>
          <a:noFill/>
        </p:spPr>
        <p:txBody>
          <a:bodyPr wrap="square" lIns="0" tIns="0" rIns="0" bIns="0">
            <a:spAutoFit/>
          </a:bodyPr>
          <a:lstStyle/>
          <a:p>
            <a:pPr algn="l"/>
            <a:r>
              <a:rPr lang="en-IE" sz="1300" b="0" dirty="0">
                <a:solidFill>
                  <a:srgbClr val="787F88"/>
                </a:solidFill>
                <a:latin typeface="Calibri"/>
              </a:rPr>
              <a:t>A blank is an honest gap in the data. Filling it with 100% is the classic error.</a:t>
            </a:r>
          </a:p>
          <a:p>
            <a:pPr algn="l"/>
            <a:endParaRPr lang="en-IE" sz="1300" b="0" dirty="0">
              <a:solidFill>
                <a:srgbClr val="787F88"/>
              </a:solidFill>
              <a:latin typeface="Calibri"/>
            </a:endParaRPr>
          </a:p>
        </p:txBody>
      </p:sp>
      <p:sp>
        <p:nvSpPr>
          <p:cNvPr id="8" name="TextBox 7">
            <a:extLst>
              <a:ext uri="{FF2B5EF4-FFF2-40B4-BE49-F238E27FC236}">
                <a16:creationId xmlns:a16="http://schemas.microsoft.com/office/drawing/2014/main" id="{D9167F0B-832F-43B5-DB27-51152D67B553}"/>
              </a:ext>
            </a:extLst>
          </p:cNvPr>
          <p:cNvSpPr txBox="1"/>
          <p:nvPr/>
        </p:nvSpPr>
        <p:spPr>
          <a:xfrm>
            <a:off x="7772400" y="6565392"/>
            <a:ext cx="3962095" cy="365760"/>
          </a:xfrm>
          <a:prstGeom prst="rect">
            <a:avLst/>
          </a:prstGeom>
          <a:noFill/>
        </p:spPr>
        <p:txBody>
          <a:bodyPr wrap="square" lIns="0" tIns="0" rIns="0" bIns="0">
            <a:spAutoFit/>
          </a:bodyPr>
          <a:lstStyle/>
          <a:p>
            <a:pPr algn="r"/>
            <a:r>
              <a:rPr sz="1300" b="0">
                <a:solidFill>
                  <a:srgbClr val="787F88"/>
                </a:solidFill>
                <a:latin typeface="Calibri"/>
              </a:rPr>
              <a:t>Shannon Energy · Power BI demo</a:t>
            </a:r>
          </a:p>
        </p:txBody>
      </p:sp>
    </p:spTree>
    <p:extLst>
      <p:ext uri="{BB962C8B-B14F-4D97-AF65-F5344CB8AC3E}">
        <p14:creationId xmlns:p14="http://schemas.microsoft.com/office/powerpoint/2010/main" val="29677663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47573-0623-4575-FA28-FB62B184C2F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4737BE8-43A2-8D10-A208-B0499E487A4E}"/>
              </a:ext>
            </a:extLst>
          </p:cNvPr>
          <p:cNvPicPr>
            <a:picLocks noChangeAspect="1"/>
          </p:cNvPicPr>
          <p:nvPr/>
        </p:nvPicPr>
        <p:blipFill>
          <a:blip r:embed="rId3"/>
          <a:stretch>
            <a:fillRect/>
          </a:stretch>
        </p:blipFill>
        <p:spPr>
          <a:xfrm>
            <a:off x="1297459" y="1313174"/>
            <a:ext cx="9158764" cy="3729248"/>
          </a:xfrm>
          <a:prstGeom prst="roundRect">
            <a:avLst>
              <a:gd name="adj" fmla="val 2750"/>
            </a:avLst>
          </a:prstGeom>
        </p:spPr>
      </p:pic>
      <p:sp>
        <p:nvSpPr>
          <p:cNvPr id="4" name="Rectangle 3">
            <a:extLst>
              <a:ext uri="{FF2B5EF4-FFF2-40B4-BE49-F238E27FC236}">
                <a16:creationId xmlns:a16="http://schemas.microsoft.com/office/drawing/2014/main" id="{12E3438C-30B5-32B8-9E46-099A0A371966}"/>
              </a:ext>
            </a:extLst>
          </p:cNvPr>
          <p:cNvSpPr/>
          <p:nvPr/>
        </p:nvSpPr>
        <p:spPr>
          <a:xfrm>
            <a:off x="0" y="0"/>
            <a:ext cx="12191695" cy="50292"/>
          </a:xfrm>
          <a:prstGeom prst="rect">
            <a:avLst/>
          </a:prstGeom>
          <a:solidFill>
            <a:srgbClr val="0B5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BC6E080F-EB22-32C4-70E7-591FD64E2CF9}"/>
              </a:ext>
            </a:extLst>
          </p:cNvPr>
          <p:cNvSpPr txBox="1"/>
          <p:nvPr/>
        </p:nvSpPr>
        <p:spPr>
          <a:xfrm>
            <a:off x="457200" y="292608"/>
            <a:ext cx="11338560" cy="461665"/>
          </a:xfrm>
          <a:prstGeom prst="rect">
            <a:avLst/>
          </a:prstGeom>
          <a:noFill/>
        </p:spPr>
        <p:txBody>
          <a:bodyPr wrap="square" lIns="0" tIns="0" rIns="0" bIns="0">
            <a:spAutoFit/>
          </a:bodyPr>
          <a:lstStyle/>
          <a:p>
            <a:pPr algn="l"/>
            <a:r>
              <a:rPr sz="3000" b="1" dirty="0">
                <a:solidFill>
                  <a:srgbClr val="1A1D21"/>
                </a:solidFill>
                <a:latin typeface="Calibri"/>
              </a:rPr>
              <a:t>Churn peaks at month 12 </a:t>
            </a:r>
            <a:r>
              <a:rPr lang="en-IE" sz="3000" b="1" dirty="0">
                <a:solidFill>
                  <a:srgbClr val="1A1D21"/>
                </a:solidFill>
                <a:latin typeface="Calibri"/>
              </a:rPr>
              <a:t>-</a:t>
            </a:r>
            <a:r>
              <a:rPr sz="3000" b="1" dirty="0">
                <a:solidFill>
                  <a:srgbClr val="1A1D21"/>
                </a:solidFill>
                <a:latin typeface="Calibri"/>
              </a:rPr>
              <a:t> when the intro discount ends</a:t>
            </a:r>
          </a:p>
        </p:txBody>
      </p:sp>
      <p:sp>
        <p:nvSpPr>
          <p:cNvPr id="7" name="TextBox 6">
            <a:extLst>
              <a:ext uri="{FF2B5EF4-FFF2-40B4-BE49-F238E27FC236}">
                <a16:creationId xmlns:a16="http://schemas.microsoft.com/office/drawing/2014/main" id="{2E0AD339-3325-C59F-9D78-3F4A9606725D}"/>
              </a:ext>
            </a:extLst>
          </p:cNvPr>
          <p:cNvSpPr txBox="1"/>
          <p:nvPr/>
        </p:nvSpPr>
        <p:spPr>
          <a:xfrm>
            <a:off x="457200" y="777240"/>
            <a:ext cx="11338560" cy="365760"/>
          </a:xfrm>
          <a:prstGeom prst="rect">
            <a:avLst/>
          </a:prstGeom>
          <a:noFill/>
        </p:spPr>
        <p:txBody>
          <a:bodyPr wrap="square" lIns="0" tIns="0" rIns="0" bIns="0">
            <a:spAutoFit/>
          </a:bodyPr>
          <a:lstStyle/>
          <a:p>
            <a:pPr algn="l"/>
            <a:r>
              <a:rPr sz="1500" b="0">
                <a:solidFill>
                  <a:srgbClr val="787F88"/>
                </a:solidFill>
                <a:latin typeface="Calibri"/>
              </a:rPr>
              <a:t>Churned customers by tenure in months.</a:t>
            </a:r>
          </a:p>
        </p:txBody>
      </p:sp>
      <p:sp>
        <p:nvSpPr>
          <p:cNvPr id="8" name="TextBox 7">
            <a:extLst>
              <a:ext uri="{FF2B5EF4-FFF2-40B4-BE49-F238E27FC236}">
                <a16:creationId xmlns:a16="http://schemas.microsoft.com/office/drawing/2014/main" id="{AA35EACF-D030-FEE9-0F2B-7E9BC384B934}"/>
              </a:ext>
            </a:extLst>
          </p:cNvPr>
          <p:cNvSpPr txBox="1"/>
          <p:nvPr/>
        </p:nvSpPr>
        <p:spPr>
          <a:xfrm>
            <a:off x="1297459" y="5144716"/>
            <a:ext cx="8229600" cy="600164"/>
          </a:xfrm>
          <a:prstGeom prst="rect">
            <a:avLst/>
          </a:prstGeom>
          <a:noFill/>
        </p:spPr>
        <p:txBody>
          <a:bodyPr wrap="square" lIns="0" tIns="0" rIns="0" bIns="0">
            <a:spAutoFit/>
          </a:bodyPr>
          <a:lstStyle/>
          <a:p>
            <a:pPr algn="l"/>
            <a:r>
              <a:rPr lang="en-IE" sz="1300" b="0" dirty="0">
                <a:solidFill>
                  <a:srgbClr val="787F88"/>
                </a:solidFill>
                <a:latin typeface="Calibri"/>
              </a:rPr>
              <a:t>A pricing question, not a service question - and it is visible before it happens.</a:t>
            </a:r>
          </a:p>
          <a:p>
            <a:pPr algn="l"/>
            <a:endParaRPr lang="en-IE" sz="1300" b="0" dirty="0">
              <a:solidFill>
                <a:srgbClr val="787F88"/>
              </a:solidFill>
              <a:latin typeface="Calibri"/>
            </a:endParaRPr>
          </a:p>
          <a:p>
            <a:pPr algn="l"/>
            <a:endParaRPr lang="en-IE" sz="1300" b="0" dirty="0">
              <a:solidFill>
                <a:srgbClr val="787F88"/>
              </a:solidFill>
              <a:latin typeface="Calibri"/>
            </a:endParaRPr>
          </a:p>
        </p:txBody>
      </p:sp>
      <p:sp>
        <p:nvSpPr>
          <p:cNvPr id="9" name="TextBox 8">
            <a:extLst>
              <a:ext uri="{FF2B5EF4-FFF2-40B4-BE49-F238E27FC236}">
                <a16:creationId xmlns:a16="http://schemas.microsoft.com/office/drawing/2014/main" id="{20731627-B3DE-6E71-E9F3-4D9435411D03}"/>
              </a:ext>
            </a:extLst>
          </p:cNvPr>
          <p:cNvSpPr txBox="1"/>
          <p:nvPr/>
        </p:nvSpPr>
        <p:spPr>
          <a:xfrm>
            <a:off x="7772400" y="6565392"/>
            <a:ext cx="3962095" cy="365760"/>
          </a:xfrm>
          <a:prstGeom prst="rect">
            <a:avLst/>
          </a:prstGeom>
          <a:noFill/>
        </p:spPr>
        <p:txBody>
          <a:bodyPr wrap="square" lIns="0" tIns="0" rIns="0" bIns="0">
            <a:spAutoFit/>
          </a:bodyPr>
          <a:lstStyle/>
          <a:p>
            <a:pPr algn="r"/>
            <a:r>
              <a:rPr sz="1300" b="0" dirty="0">
                <a:solidFill>
                  <a:srgbClr val="787F88"/>
                </a:solidFill>
                <a:latin typeface="Calibri"/>
              </a:rPr>
              <a:t>Shannon Energy · Power BI demo</a:t>
            </a:r>
          </a:p>
        </p:txBody>
      </p:sp>
    </p:spTree>
    <p:extLst>
      <p:ext uri="{BB962C8B-B14F-4D97-AF65-F5344CB8AC3E}">
        <p14:creationId xmlns:p14="http://schemas.microsoft.com/office/powerpoint/2010/main" val="3304143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9872F-4D62-7921-AAF2-1B9E0E0093C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05163C5-EAF1-1499-26C7-7EC5F86FD23B}"/>
              </a:ext>
            </a:extLst>
          </p:cNvPr>
          <p:cNvPicPr>
            <a:picLocks noChangeAspect="1"/>
          </p:cNvPicPr>
          <p:nvPr/>
        </p:nvPicPr>
        <p:blipFill>
          <a:blip r:embed="rId3"/>
          <a:srcRect t="13414"/>
          <a:stretch>
            <a:fillRect/>
          </a:stretch>
        </p:blipFill>
        <p:spPr>
          <a:xfrm>
            <a:off x="10293178" y="386771"/>
            <a:ext cx="1791478" cy="5938122"/>
          </a:xfrm>
          <a:prstGeom prst="rect">
            <a:avLst/>
          </a:prstGeom>
          <a:ln w="3175">
            <a:noFill/>
          </a:ln>
        </p:spPr>
      </p:pic>
      <p:pic>
        <p:nvPicPr>
          <p:cNvPr id="6" name="Picture 5">
            <a:extLst>
              <a:ext uri="{FF2B5EF4-FFF2-40B4-BE49-F238E27FC236}">
                <a16:creationId xmlns:a16="http://schemas.microsoft.com/office/drawing/2014/main" id="{C90E9C82-26A2-EDCD-160A-2B17AA10C21E}"/>
              </a:ext>
            </a:extLst>
          </p:cNvPr>
          <p:cNvPicPr>
            <a:picLocks noChangeAspect="1"/>
          </p:cNvPicPr>
          <p:nvPr/>
        </p:nvPicPr>
        <p:blipFill>
          <a:blip r:embed="rId4"/>
          <a:stretch>
            <a:fillRect/>
          </a:stretch>
        </p:blipFill>
        <p:spPr>
          <a:xfrm>
            <a:off x="424249" y="1748588"/>
            <a:ext cx="7772400" cy="4558249"/>
          </a:xfrm>
          <a:prstGeom prst="rect">
            <a:avLst/>
          </a:prstGeom>
          <a:ln w="3175">
            <a:noFill/>
          </a:ln>
        </p:spPr>
      </p:pic>
      <p:sp>
        <p:nvSpPr>
          <p:cNvPr id="13" name="TextBox 12">
            <a:extLst>
              <a:ext uri="{FF2B5EF4-FFF2-40B4-BE49-F238E27FC236}">
                <a16:creationId xmlns:a16="http://schemas.microsoft.com/office/drawing/2014/main" id="{3E37F3D9-62F8-B8AA-7FEC-39F9EEEACF1E}"/>
              </a:ext>
            </a:extLst>
          </p:cNvPr>
          <p:cNvSpPr txBox="1"/>
          <p:nvPr/>
        </p:nvSpPr>
        <p:spPr>
          <a:xfrm>
            <a:off x="457200" y="6324893"/>
            <a:ext cx="4170909" cy="400110"/>
          </a:xfrm>
          <a:prstGeom prst="rect">
            <a:avLst/>
          </a:prstGeom>
          <a:noFill/>
        </p:spPr>
        <p:txBody>
          <a:bodyPr wrap="square" lIns="0" tIns="0" rIns="0" bIns="0">
            <a:spAutoFit/>
          </a:bodyPr>
          <a:lstStyle>
            <a:defPPr>
              <a:defRPr lang="en-US"/>
            </a:defPPr>
            <a:lvl1pPr>
              <a:defRPr sz="1300" b="0">
                <a:solidFill>
                  <a:srgbClr val="787F88"/>
                </a:solidFill>
                <a:latin typeface="Calibri"/>
              </a:defRPr>
            </a:lvl1pPr>
          </a:lstStyle>
          <a:p>
            <a:r>
              <a:rPr lang="en-IE" b="1" dirty="0"/>
              <a:t>Two security roles</a:t>
            </a:r>
            <a:br>
              <a:rPr lang="en-IE" dirty="0"/>
            </a:br>
            <a:r>
              <a:rPr lang="en-IE" dirty="0"/>
              <a:t>The B2C and B2B teams don't see each other's numbers</a:t>
            </a:r>
            <a:endParaRPr lang="en-US" dirty="0"/>
          </a:p>
        </p:txBody>
      </p:sp>
      <p:sp>
        <p:nvSpPr>
          <p:cNvPr id="14" name="TextBox 13">
            <a:extLst>
              <a:ext uri="{FF2B5EF4-FFF2-40B4-BE49-F238E27FC236}">
                <a16:creationId xmlns:a16="http://schemas.microsoft.com/office/drawing/2014/main" id="{DAB6E286-25C8-C47B-8786-E62CE387E9F0}"/>
              </a:ext>
            </a:extLst>
          </p:cNvPr>
          <p:cNvSpPr txBox="1"/>
          <p:nvPr/>
        </p:nvSpPr>
        <p:spPr>
          <a:xfrm>
            <a:off x="457200" y="292608"/>
            <a:ext cx="11338560" cy="548640"/>
          </a:xfrm>
          <a:prstGeom prst="rect">
            <a:avLst/>
          </a:prstGeom>
          <a:noFill/>
        </p:spPr>
        <p:txBody>
          <a:bodyPr wrap="square" lIns="0" tIns="0" rIns="0" bIns="0">
            <a:spAutoFit/>
          </a:bodyPr>
          <a:lstStyle/>
          <a:p>
            <a:pPr algn="l"/>
            <a:r>
              <a:rPr sz="3000" b="1">
                <a:solidFill>
                  <a:srgbClr val="1A1D21"/>
                </a:solidFill>
                <a:latin typeface="Calibri"/>
              </a:rPr>
              <a:t>Cleaning and security are part of the build</a:t>
            </a:r>
          </a:p>
        </p:txBody>
      </p:sp>
      <p:sp>
        <p:nvSpPr>
          <p:cNvPr id="15" name="TextBox 14">
            <a:extLst>
              <a:ext uri="{FF2B5EF4-FFF2-40B4-BE49-F238E27FC236}">
                <a16:creationId xmlns:a16="http://schemas.microsoft.com/office/drawing/2014/main" id="{237AA156-118F-644F-7B9A-5366049909D9}"/>
              </a:ext>
            </a:extLst>
          </p:cNvPr>
          <p:cNvSpPr txBox="1"/>
          <p:nvPr/>
        </p:nvSpPr>
        <p:spPr>
          <a:xfrm>
            <a:off x="457200" y="777240"/>
            <a:ext cx="11338560" cy="365760"/>
          </a:xfrm>
          <a:prstGeom prst="rect">
            <a:avLst/>
          </a:prstGeom>
          <a:noFill/>
        </p:spPr>
        <p:txBody>
          <a:bodyPr wrap="square" lIns="0" tIns="0" rIns="0" bIns="0">
            <a:spAutoFit/>
          </a:bodyPr>
          <a:lstStyle/>
          <a:p>
            <a:pPr algn="l"/>
            <a:r>
              <a:rPr sz="1500" b="0" dirty="0">
                <a:solidFill>
                  <a:srgbClr val="787F88"/>
                </a:solidFill>
                <a:latin typeface="Calibri"/>
              </a:rPr>
              <a:t>Applied Steps in Power Query · Row-Level Security roles.</a:t>
            </a:r>
          </a:p>
        </p:txBody>
      </p:sp>
      <p:sp>
        <p:nvSpPr>
          <p:cNvPr id="16" name="Rectangle 15">
            <a:extLst>
              <a:ext uri="{FF2B5EF4-FFF2-40B4-BE49-F238E27FC236}">
                <a16:creationId xmlns:a16="http://schemas.microsoft.com/office/drawing/2014/main" id="{407C0649-73E1-AFD1-CAE3-894AC2CC5285}"/>
              </a:ext>
            </a:extLst>
          </p:cNvPr>
          <p:cNvSpPr/>
          <p:nvPr/>
        </p:nvSpPr>
        <p:spPr>
          <a:xfrm>
            <a:off x="0" y="0"/>
            <a:ext cx="12191695" cy="50292"/>
          </a:xfrm>
          <a:prstGeom prst="rect">
            <a:avLst/>
          </a:prstGeom>
          <a:solidFill>
            <a:srgbClr val="0B5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8" name="Group 17">
            <a:extLst>
              <a:ext uri="{FF2B5EF4-FFF2-40B4-BE49-F238E27FC236}">
                <a16:creationId xmlns:a16="http://schemas.microsoft.com/office/drawing/2014/main" id="{6B8CAFCA-CFFD-6EE8-1410-A83A9046354D}"/>
              </a:ext>
            </a:extLst>
          </p:cNvPr>
          <p:cNvGrpSpPr/>
          <p:nvPr/>
        </p:nvGrpSpPr>
        <p:grpSpPr>
          <a:xfrm>
            <a:off x="7563891" y="919878"/>
            <a:ext cx="4170909" cy="701862"/>
            <a:chOff x="7665708" y="1398619"/>
            <a:chExt cx="4170909" cy="701862"/>
          </a:xfrm>
        </p:grpSpPr>
        <p:sp>
          <p:nvSpPr>
            <p:cNvPr id="11" name="TextBox 10">
              <a:extLst>
                <a:ext uri="{FF2B5EF4-FFF2-40B4-BE49-F238E27FC236}">
                  <a16:creationId xmlns:a16="http://schemas.microsoft.com/office/drawing/2014/main" id="{EAC28E3C-88DD-5DE9-0B54-F46128C7047E}"/>
                </a:ext>
              </a:extLst>
            </p:cNvPr>
            <p:cNvSpPr txBox="1"/>
            <p:nvPr/>
          </p:nvSpPr>
          <p:spPr>
            <a:xfrm>
              <a:off x="7665708" y="1398619"/>
              <a:ext cx="4170909" cy="200055"/>
            </a:xfrm>
            <a:prstGeom prst="rect">
              <a:avLst/>
            </a:prstGeom>
            <a:noFill/>
          </p:spPr>
          <p:txBody>
            <a:bodyPr wrap="square" lIns="0" tIns="0" rIns="0" bIns="0">
              <a:spAutoFit/>
            </a:bodyPr>
            <a:lstStyle>
              <a:defPPr>
                <a:defRPr lang="en-US"/>
              </a:defPPr>
              <a:lvl1pPr>
                <a:defRPr sz="1300" b="0">
                  <a:solidFill>
                    <a:srgbClr val="787F88"/>
                  </a:solidFill>
                  <a:latin typeface="Calibri"/>
                </a:defRPr>
              </a:lvl1pPr>
            </a:lstStyle>
            <a:p>
              <a:r>
                <a:rPr lang="en-IE" b="1" dirty="0"/>
                <a:t>Every transformation step, named </a:t>
              </a:r>
              <a:r>
                <a:rPr lang="en-IE" dirty="0"/>
                <a:t>-&gt;</a:t>
              </a:r>
            </a:p>
          </p:txBody>
        </p:sp>
        <p:sp>
          <p:nvSpPr>
            <p:cNvPr id="17" name="TextBox 16">
              <a:extLst>
                <a:ext uri="{FF2B5EF4-FFF2-40B4-BE49-F238E27FC236}">
                  <a16:creationId xmlns:a16="http://schemas.microsoft.com/office/drawing/2014/main" id="{4CA7CE43-48F0-84C7-048C-C8C1B2064496}"/>
                </a:ext>
              </a:extLst>
            </p:cNvPr>
            <p:cNvSpPr txBox="1"/>
            <p:nvPr/>
          </p:nvSpPr>
          <p:spPr>
            <a:xfrm>
              <a:off x="7665708" y="1700371"/>
              <a:ext cx="2627470" cy="400110"/>
            </a:xfrm>
            <a:prstGeom prst="rect">
              <a:avLst/>
            </a:prstGeom>
            <a:noFill/>
          </p:spPr>
          <p:txBody>
            <a:bodyPr wrap="square" lIns="0" tIns="0" rIns="0" bIns="0">
              <a:spAutoFit/>
            </a:bodyPr>
            <a:lstStyle>
              <a:defPPr>
                <a:defRPr lang="en-US"/>
              </a:defPPr>
              <a:lvl1pPr>
                <a:defRPr sz="1300" b="0">
                  <a:solidFill>
                    <a:srgbClr val="787F88"/>
                  </a:solidFill>
                  <a:latin typeface="Calibri"/>
                </a:defRPr>
              </a:lvl1pPr>
            </a:lstStyle>
            <a:p>
              <a:r>
                <a:rPr lang="en-IE" dirty="0"/>
                <a:t>Twenty spellings of the channel, currency as text, mixed date formats</a:t>
              </a:r>
              <a:endParaRPr lang="en-US" dirty="0"/>
            </a:p>
          </p:txBody>
        </p:sp>
      </p:grpSp>
      <p:sp>
        <p:nvSpPr>
          <p:cNvPr id="19" name="TextBox 18">
            <a:extLst>
              <a:ext uri="{FF2B5EF4-FFF2-40B4-BE49-F238E27FC236}">
                <a16:creationId xmlns:a16="http://schemas.microsoft.com/office/drawing/2014/main" id="{17350A8A-AC71-D619-CE6A-8398B33CBA4F}"/>
              </a:ext>
            </a:extLst>
          </p:cNvPr>
          <p:cNvSpPr txBox="1"/>
          <p:nvPr/>
        </p:nvSpPr>
        <p:spPr>
          <a:xfrm>
            <a:off x="7772400" y="6565392"/>
            <a:ext cx="3962095" cy="365760"/>
          </a:xfrm>
          <a:prstGeom prst="rect">
            <a:avLst/>
          </a:prstGeom>
          <a:noFill/>
        </p:spPr>
        <p:txBody>
          <a:bodyPr wrap="square" lIns="0" tIns="0" rIns="0" bIns="0">
            <a:spAutoFit/>
          </a:bodyPr>
          <a:lstStyle/>
          <a:p>
            <a:pPr algn="r"/>
            <a:r>
              <a:rPr sz="1300" b="0" dirty="0">
                <a:solidFill>
                  <a:srgbClr val="787F88"/>
                </a:solidFill>
                <a:latin typeface="Calibri"/>
              </a:rPr>
              <a:t>Shannon Energy · Power BI demo</a:t>
            </a:r>
          </a:p>
        </p:txBody>
      </p:sp>
      <p:sp>
        <p:nvSpPr>
          <p:cNvPr id="20" name="TextBox 19">
            <a:extLst>
              <a:ext uri="{FF2B5EF4-FFF2-40B4-BE49-F238E27FC236}">
                <a16:creationId xmlns:a16="http://schemas.microsoft.com/office/drawing/2014/main" id="{FA1EDF95-0114-C845-A848-E9AB976EF12E}"/>
              </a:ext>
            </a:extLst>
          </p:cNvPr>
          <p:cNvSpPr txBox="1"/>
          <p:nvPr/>
        </p:nvSpPr>
        <p:spPr>
          <a:xfrm>
            <a:off x="424249" y="1122241"/>
            <a:ext cx="8229600" cy="200055"/>
          </a:xfrm>
          <a:prstGeom prst="rect">
            <a:avLst/>
          </a:prstGeom>
          <a:noFill/>
        </p:spPr>
        <p:txBody>
          <a:bodyPr wrap="square" lIns="0" tIns="0" rIns="0" bIns="0">
            <a:spAutoFit/>
          </a:bodyPr>
          <a:lstStyle/>
          <a:p>
            <a:pPr algn="l"/>
            <a:r>
              <a:rPr sz="1300" b="0" dirty="0">
                <a:solidFill>
                  <a:srgbClr val="787F88"/>
                </a:solidFill>
                <a:latin typeface="Calibri"/>
              </a:rPr>
              <a:t>Named steps, not </a:t>
            </a:r>
            <a:r>
              <a:rPr lang="en-IE" sz="1300" b="0" dirty="0">
                <a:solidFill>
                  <a:srgbClr val="787F88"/>
                </a:solidFill>
                <a:latin typeface="Calibri"/>
              </a:rPr>
              <a:t>"</a:t>
            </a:r>
            <a:r>
              <a:rPr sz="1300" b="0" dirty="0">
                <a:solidFill>
                  <a:srgbClr val="787F88"/>
                </a:solidFill>
                <a:latin typeface="Calibri"/>
              </a:rPr>
              <a:t>Changed Type1</a:t>
            </a:r>
            <a:r>
              <a:rPr lang="en-IE" sz="1300" b="0" dirty="0">
                <a:solidFill>
                  <a:srgbClr val="787F88"/>
                </a:solidFill>
                <a:latin typeface="Calibri"/>
              </a:rPr>
              <a:t>"</a:t>
            </a:r>
            <a:r>
              <a:rPr sz="1300" b="0" dirty="0">
                <a:solidFill>
                  <a:srgbClr val="787F88"/>
                </a:solidFill>
                <a:latin typeface="Calibri"/>
              </a:rPr>
              <a:t>. Anyone can reopen this file and follow it.</a:t>
            </a:r>
          </a:p>
        </p:txBody>
      </p:sp>
    </p:spTree>
    <p:extLst>
      <p:ext uri="{BB962C8B-B14F-4D97-AF65-F5344CB8AC3E}">
        <p14:creationId xmlns:p14="http://schemas.microsoft.com/office/powerpoint/2010/main" val="53200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53932-9D51-9D3D-D9E1-C702C1995F74}"/>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0289B924-6DCF-8B1D-8D81-A8453CE060D3}"/>
              </a:ext>
            </a:extLst>
          </p:cNvPr>
          <p:cNvSpPr/>
          <p:nvPr/>
        </p:nvSpPr>
        <p:spPr>
          <a:xfrm>
            <a:off x="0" y="0"/>
            <a:ext cx="12191695" cy="50292"/>
          </a:xfrm>
          <a:prstGeom prst="rect">
            <a:avLst/>
          </a:prstGeom>
          <a:solidFill>
            <a:srgbClr val="0B5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37E851FF-C5F4-5A51-E60E-0C25101DD6E8}"/>
              </a:ext>
            </a:extLst>
          </p:cNvPr>
          <p:cNvSpPr txBox="1"/>
          <p:nvPr/>
        </p:nvSpPr>
        <p:spPr>
          <a:xfrm>
            <a:off x="7772400" y="6565392"/>
            <a:ext cx="3962095" cy="365760"/>
          </a:xfrm>
          <a:prstGeom prst="rect">
            <a:avLst/>
          </a:prstGeom>
          <a:noFill/>
        </p:spPr>
        <p:txBody>
          <a:bodyPr wrap="square" lIns="0" tIns="0" rIns="0" bIns="0">
            <a:spAutoFit/>
          </a:bodyPr>
          <a:lstStyle/>
          <a:p>
            <a:pPr algn="r"/>
            <a:r>
              <a:rPr sz="1300" b="0" dirty="0">
                <a:solidFill>
                  <a:srgbClr val="787F88"/>
                </a:solidFill>
                <a:latin typeface="Calibri"/>
              </a:rPr>
              <a:t>Shannon Energy · Power BI demo</a:t>
            </a:r>
          </a:p>
        </p:txBody>
      </p:sp>
      <p:sp>
        <p:nvSpPr>
          <p:cNvPr id="2" name="TextBox 1">
            <a:extLst>
              <a:ext uri="{FF2B5EF4-FFF2-40B4-BE49-F238E27FC236}">
                <a16:creationId xmlns:a16="http://schemas.microsoft.com/office/drawing/2014/main" id="{ED636765-57EA-0A7D-ABC5-5CE34286D5BA}"/>
              </a:ext>
            </a:extLst>
          </p:cNvPr>
          <p:cNvSpPr txBox="1"/>
          <p:nvPr/>
        </p:nvSpPr>
        <p:spPr>
          <a:xfrm>
            <a:off x="457200" y="292608"/>
            <a:ext cx="11338560" cy="548640"/>
          </a:xfrm>
          <a:prstGeom prst="rect">
            <a:avLst/>
          </a:prstGeom>
          <a:noFill/>
        </p:spPr>
        <p:txBody>
          <a:bodyPr wrap="square" lIns="0" tIns="0" rIns="0" bIns="0">
            <a:spAutoFit/>
          </a:bodyPr>
          <a:lstStyle/>
          <a:p>
            <a:pPr algn="l"/>
            <a:r>
              <a:rPr sz="3000" b="1">
                <a:solidFill>
                  <a:srgbClr val="1A1D21"/>
                </a:solidFill>
                <a:latin typeface="Calibri"/>
              </a:rPr>
              <a:t>What the numbers say</a:t>
            </a:r>
          </a:p>
        </p:txBody>
      </p:sp>
      <p:sp>
        <p:nvSpPr>
          <p:cNvPr id="3" name="Rounded Rectangle 2">
            <a:extLst>
              <a:ext uri="{FF2B5EF4-FFF2-40B4-BE49-F238E27FC236}">
                <a16:creationId xmlns:a16="http://schemas.microsoft.com/office/drawing/2014/main" id="{9C168014-7E23-3531-56FF-65851C20AD52}"/>
              </a:ext>
            </a:extLst>
          </p:cNvPr>
          <p:cNvSpPr/>
          <p:nvPr/>
        </p:nvSpPr>
        <p:spPr>
          <a:xfrm>
            <a:off x="457200" y="1234440"/>
            <a:ext cx="11277295" cy="804672"/>
          </a:xfrm>
          <a:prstGeom prst="roundRect">
            <a:avLst>
              <a:gd name="adj" fmla="val 3000"/>
            </a:avLst>
          </a:prstGeom>
          <a:solidFill>
            <a:srgbClr val="FFFFFF"/>
          </a:solidFill>
          <a:ln w="12700">
            <a:solidFill>
              <a:srgbClr val="D6D2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AA73F4DC-C012-A420-1A72-CD8B5B7B072C}"/>
              </a:ext>
            </a:extLst>
          </p:cNvPr>
          <p:cNvSpPr txBox="1"/>
          <p:nvPr/>
        </p:nvSpPr>
        <p:spPr>
          <a:xfrm>
            <a:off x="777240" y="1435608"/>
            <a:ext cx="2194560" cy="457200"/>
          </a:xfrm>
          <a:prstGeom prst="rect">
            <a:avLst/>
          </a:prstGeom>
          <a:noFill/>
        </p:spPr>
        <p:txBody>
          <a:bodyPr wrap="square" lIns="0" tIns="0" rIns="0" bIns="0">
            <a:spAutoFit/>
          </a:bodyPr>
          <a:lstStyle/>
          <a:p>
            <a:pPr algn="l"/>
            <a:r>
              <a:rPr sz="3200" b="1">
                <a:solidFill>
                  <a:srgbClr val="0B5C3F"/>
                </a:solidFill>
                <a:latin typeface="Calibri"/>
              </a:rPr>
              <a:t>€46</a:t>
            </a:r>
          </a:p>
        </p:txBody>
      </p:sp>
      <p:sp>
        <p:nvSpPr>
          <p:cNvPr id="7" name="TextBox 6">
            <a:extLst>
              <a:ext uri="{FF2B5EF4-FFF2-40B4-BE49-F238E27FC236}">
                <a16:creationId xmlns:a16="http://schemas.microsoft.com/office/drawing/2014/main" id="{3DB570AB-C397-E20A-1086-46C08DE1144E}"/>
              </a:ext>
            </a:extLst>
          </p:cNvPr>
          <p:cNvSpPr txBox="1"/>
          <p:nvPr/>
        </p:nvSpPr>
        <p:spPr>
          <a:xfrm>
            <a:off x="3017520" y="1499616"/>
            <a:ext cx="8412480" cy="261610"/>
          </a:xfrm>
          <a:prstGeom prst="rect">
            <a:avLst/>
          </a:prstGeom>
          <a:noFill/>
        </p:spPr>
        <p:txBody>
          <a:bodyPr wrap="square" lIns="0" tIns="0" rIns="0" bIns="0">
            <a:spAutoFit/>
          </a:bodyPr>
          <a:lstStyle/>
          <a:p>
            <a:pPr algn="l"/>
            <a:r>
              <a:rPr sz="1700" b="0" dirty="0">
                <a:solidFill>
                  <a:srgbClr val="1A1D21"/>
                </a:solidFill>
                <a:latin typeface="Calibri"/>
              </a:rPr>
              <a:t>Price Comparison CPA </a:t>
            </a:r>
            <a:r>
              <a:rPr lang="en-IE" sz="1700" b="0" dirty="0">
                <a:solidFill>
                  <a:srgbClr val="1A1D21"/>
                </a:solidFill>
                <a:latin typeface="Calibri"/>
              </a:rPr>
              <a:t>-</a:t>
            </a:r>
            <a:r>
              <a:rPr sz="1700" b="0" dirty="0">
                <a:solidFill>
                  <a:srgbClr val="1A1D21"/>
                </a:solidFill>
                <a:latin typeface="Calibri"/>
              </a:rPr>
              <a:t> the cheapest channel to buy</a:t>
            </a:r>
          </a:p>
        </p:txBody>
      </p:sp>
      <p:sp>
        <p:nvSpPr>
          <p:cNvPr id="8" name="Rounded Rectangle 7">
            <a:extLst>
              <a:ext uri="{FF2B5EF4-FFF2-40B4-BE49-F238E27FC236}">
                <a16:creationId xmlns:a16="http://schemas.microsoft.com/office/drawing/2014/main" id="{344142E2-E377-6304-F8BB-7E1106E43AB5}"/>
              </a:ext>
            </a:extLst>
          </p:cNvPr>
          <p:cNvSpPr/>
          <p:nvPr/>
        </p:nvSpPr>
        <p:spPr>
          <a:xfrm>
            <a:off x="457200" y="2167128"/>
            <a:ext cx="11277295" cy="804672"/>
          </a:xfrm>
          <a:prstGeom prst="roundRect">
            <a:avLst>
              <a:gd name="adj" fmla="val 3000"/>
            </a:avLst>
          </a:prstGeom>
          <a:solidFill>
            <a:srgbClr val="FFFFFF"/>
          </a:solidFill>
          <a:ln w="12700">
            <a:solidFill>
              <a:srgbClr val="D6D2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44ADCDB4-958A-0327-BB74-6D28BB323677}"/>
              </a:ext>
            </a:extLst>
          </p:cNvPr>
          <p:cNvSpPr txBox="1"/>
          <p:nvPr/>
        </p:nvSpPr>
        <p:spPr>
          <a:xfrm>
            <a:off x="777240" y="2368296"/>
            <a:ext cx="2194560" cy="457200"/>
          </a:xfrm>
          <a:prstGeom prst="rect">
            <a:avLst/>
          </a:prstGeom>
          <a:noFill/>
        </p:spPr>
        <p:txBody>
          <a:bodyPr wrap="square" lIns="0" tIns="0" rIns="0" bIns="0">
            <a:spAutoFit/>
          </a:bodyPr>
          <a:lstStyle/>
          <a:p>
            <a:pPr algn="l"/>
            <a:r>
              <a:rPr sz="3200" b="1">
                <a:solidFill>
                  <a:srgbClr val="0B5C3F"/>
                </a:solidFill>
                <a:latin typeface="Calibri"/>
              </a:rPr>
              <a:t>35.9%</a:t>
            </a:r>
          </a:p>
        </p:txBody>
      </p:sp>
      <p:sp>
        <p:nvSpPr>
          <p:cNvPr id="10" name="TextBox 9">
            <a:extLst>
              <a:ext uri="{FF2B5EF4-FFF2-40B4-BE49-F238E27FC236}">
                <a16:creationId xmlns:a16="http://schemas.microsoft.com/office/drawing/2014/main" id="{C2961E0E-26CB-1140-876E-1BD8BA3D403B}"/>
              </a:ext>
            </a:extLst>
          </p:cNvPr>
          <p:cNvSpPr txBox="1"/>
          <p:nvPr/>
        </p:nvSpPr>
        <p:spPr>
          <a:xfrm>
            <a:off x="3017520" y="2432304"/>
            <a:ext cx="8412480" cy="261610"/>
          </a:xfrm>
          <a:prstGeom prst="rect">
            <a:avLst/>
          </a:prstGeom>
          <a:noFill/>
        </p:spPr>
        <p:txBody>
          <a:bodyPr wrap="square" lIns="0" tIns="0" rIns="0" bIns="0">
            <a:spAutoFit/>
          </a:bodyPr>
          <a:lstStyle/>
          <a:p>
            <a:pPr algn="l"/>
            <a:r>
              <a:rPr sz="1700" b="0" dirty="0">
                <a:solidFill>
                  <a:srgbClr val="1A1D21"/>
                </a:solidFill>
                <a:latin typeface="Calibri"/>
              </a:rPr>
              <a:t>its 12-month retention </a:t>
            </a:r>
            <a:r>
              <a:rPr lang="en-IE" sz="1700" b="0" dirty="0">
                <a:solidFill>
                  <a:srgbClr val="1A1D21"/>
                </a:solidFill>
                <a:latin typeface="Calibri"/>
              </a:rPr>
              <a:t>-</a:t>
            </a:r>
            <a:r>
              <a:rPr sz="1700" b="0" dirty="0">
                <a:solidFill>
                  <a:srgbClr val="1A1D21"/>
                </a:solidFill>
                <a:latin typeface="Calibri"/>
              </a:rPr>
              <a:t> the worst of the five</a:t>
            </a:r>
          </a:p>
        </p:txBody>
      </p:sp>
      <p:sp>
        <p:nvSpPr>
          <p:cNvPr id="12" name="Rounded Rectangle 11">
            <a:extLst>
              <a:ext uri="{FF2B5EF4-FFF2-40B4-BE49-F238E27FC236}">
                <a16:creationId xmlns:a16="http://schemas.microsoft.com/office/drawing/2014/main" id="{00ABF732-7573-6EE9-A5FB-8068E5589F61}"/>
              </a:ext>
            </a:extLst>
          </p:cNvPr>
          <p:cNvSpPr/>
          <p:nvPr/>
        </p:nvSpPr>
        <p:spPr>
          <a:xfrm>
            <a:off x="457200" y="3099816"/>
            <a:ext cx="11277295" cy="804672"/>
          </a:xfrm>
          <a:prstGeom prst="roundRect">
            <a:avLst>
              <a:gd name="adj" fmla="val 3000"/>
            </a:avLst>
          </a:prstGeom>
          <a:solidFill>
            <a:srgbClr val="FFFFFF"/>
          </a:solidFill>
          <a:ln w="12700">
            <a:solidFill>
              <a:srgbClr val="D6D2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3EC7D127-4682-5C65-F2C0-F6DFA43AE071}"/>
              </a:ext>
            </a:extLst>
          </p:cNvPr>
          <p:cNvSpPr txBox="1"/>
          <p:nvPr/>
        </p:nvSpPr>
        <p:spPr>
          <a:xfrm>
            <a:off x="777240" y="3300984"/>
            <a:ext cx="2194560" cy="457200"/>
          </a:xfrm>
          <a:prstGeom prst="rect">
            <a:avLst/>
          </a:prstGeom>
          <a:noFill/>
        </p:spPr>
        <p:txBody>
          <a:bodyPr wrap="square" lIns="0" tIns="0" rIns="0" bIns="0">
            <a:spAutoFit/>
          </a:bodyPr>
          <a:lstStyle/>
          <a:p>
            <a:pPr algn="l"/>
            <a:r>
              <a:rPr sz="3200" b="1">
                <a:solidFill>
                  <a:srgbClr val="0B5C3F"/>
                </a:solidFill>
                <a:latin typeface="Calibri"/>
              </a:rPr>
              <a:t>€128</a:t>
            </a:r>
          </a:p>
        </p:txBody>
      </p:sp>
      <p:sp>
        <p:nvSpPr>
          <p:cNvPr id="22" name="TextBox 21">
            <a:extLst>
              <a:ext uri="{FF2B5EF4-FFF2-40B4-BE49-F238E27FC236}">
                <a16:creationId xmlns:a16="http://schemas.microsoft.com/office/drawing/2014/main" id="{FF4262C4-F3BA-6C9D-5C22-06855FB86695}"/>
              </a:ext>
            </a:extLst>
          </p:cNvPr>
          <p:cNvSpPr txBox="1"/>
          <p:nvPr/>
        </p:nvSpPr>
        <p:spPr>
          <a:xfrm>
            <a:off x="3017520" y="3364992"/>
            <a:ext cx="8412480" cy="411480"/>
          </a:xfrm>
          <a:prstGeom prst="rect">
            <a:avLst/>
          </a:prstGeom>
          <a:noFill/>
        </p:spPr>
        <p:txBody>
          <a:bodyPr wrap="square" lIns="0" tIns="0" rIns="0" bIns="0">
            <a:spAutoFit/>
          </a:bodyPr>
          <a:lstStyle/>
          <a:p>
            <a:pPr algn="l"/>
            <a:r>
              <a:rPr sz="1700" b="0">
                <a:solidFill>
                  <a:srgbClr val="1A1D21"/>
                </a:solidFill>
                <a:latin typeface="Calibri"/>
              </a:rPr>
              <a:t>cost per retained customer, once churn is priced in</a:t>
            </a:r>
          </a:p>
        </p:txBody>
      </p:sp>
      <p:sp>
        <p:nvSpPr>
          <p:cNvPr id="23" name="Rounded Rectangle 22">
            <a:extLst>
              <a:ext uri="{FF2B5EF4-FFF2-40B4-BE49-F238E27FC236}">
                <a16:creationId xmlns:a16="http://schemas.microsoft.com/office/drawing/2014/main" id="{AA200D05-06E2-4CD8-2067-6AC27A82BA1C}"/>
              </a:ext>
            </a:extLst>
          </p:cNvPr>
          <p:cNvSpPr/>
          <p:nvPr/>
        </p:nvSpPr>
        <p:spPr>
          <a:xfrm>
            <a:off x="457200" y="4032504"/>
            <a:ext cx="11277295" cy="804672"/>
          </a:xfrm>
          <a:prstGeom prst="roundRect">
            <a:avLst>
              <a:gd name="adj" fmla="val 3000"/>
            </a:avLst>
          </a:prstGeom>
          <a:solidFill>
            <a:srgbClr val="FFFFFF"/>
          </a:solidFill>
          <a:ln w="12700">
            <a:solidFill>
              <a:srgbClr val="D6D2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78EAFB86-3E33-3BCE-5886-72E72220E14B}"/>
              </a:ext>
            </a:extLst>
          </p:cNvPr>
          <p:cNvSpPr txBox="1"/>
          <p:nvPr/>
        </p:nvSpPr>
        <p:spPr>
          <a:xfrm>
            <a:off x="777240" y="4233672"/>
            <a:ext cx="2194560" cy="457200"/>
          </a:xfrm>
          <a:prstGeom prst="rect">
            <a:avLst/>
          </a:prstGeom>
          <a:noFill/>
        </p:spPr>
        <p:txBody>
          <a:bodyPr wrap="square" lIns="0" tIns="0" rIns="0" bIns="0">
            <a:spAutoFit/>
          </a:bodyPr>
          <a:lstStyle/>
          <a:p>
            <a:pPr algn="l"/>
            <a:r>
              <a:rPr sz="3200" b="1">
                <a:solidFill>
                  <a:srgbClr val="0B5C3F"/>
                </a:solidFill>
                <a:latin typeface="Calibri"/>
              </a:rPr>
              <a:t>€130</a:t>
            </a:r>
          </a:p>
        </p:txBody>
      </p:sp>
      <p:sp>
        <p:nvSpPr>
          <p:cNvPr id="25" name="TextBox 24">
            <a:extLst>
              <a:ext uri="{FF2B5EF4-FFF2-40B4-BE49-F238E27FC236}">
                <a16:creationId xmlns:a16="http://schemas.microsoft.com/office/drawing/2014/main" id="{3AE51000-6579-D123-E970-37571B990756}"/>
              </a:ext>
            </a:extLst>
          </p:cNvPr>
          <p:cNvSpPr txBox="1"/>
          <p:nvPr/>
        </p:nvSpPr>
        <p:spPr>
          <a:xfrm>
            <a:off x="3017520" y="4297680"/>
            <a:ext cx="8412480" cy="261610"/>
          </a:xfrm>
          <a:prstGeom prst="rect">
            <a:avLst/>
          </a:prstGeom>
          <a:noFill/>
        </p:spPr>
        <p:txBody>
          <a:bodyPr wrap="square" lIns="0" tIns="0" rIns="0" bIns="0">
            <a:spAutoFit/>
          </a:bodyPr>
          <a:lstStyle/>
          <a:p>
            <a:pPr algn="l"/>
            <a:r>
              <a:rPr sz="1700" b="0" dirty="0">
                <a:solidFill>
                  <a:srgbClr val="1A1D21"/>
                </a:solidFill>
                <a:latin typeface="Calibri"/>
              </a:rPr>
              <a:t>contribution per acquisition </a:t>
            </a:r>
            <a:r>
              <a:rPr lang="en-IE" sz="1700" b="0" dirty="0">
                <a:solidFill>
                  <a:srgbClr val="1A1D21"/>
                </a:solidFill>
                <a:latin typeface="Calibri"/>
              </a:rPr>
              <a:t>-</a:t>
            </a:r>
            <a:r>
              <a:rPr sz="1700" b="0" dirty="0">
                <a:solidFill>
                  <a:srgbClr val="1A1D21"/>
                </a:solidFill>
                <a:latin typeface="Calibri"/>
              </a:rPr>
              <a:t> the lowest of the five</a:t>
            </a:r>
          </a:p>
        </p:txBody>
      </p:sp>
    </p:spTree>
    <p:extLst>
      <p:ext uri="{BB962C8B-B14F-4D97-AF65-F5344CB8AC3E}">
        <p14:creationId xmlns:p14="http://schemas.microsoft.com/office/powerpoint/2010/main" val="18132355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531</TotalTime>
  <Words>1954</Words>
  <Application>Microsoft Macintosh PowerPoint</Application>
  <PresentationFormat>Widescreen</PresentationFormat>
  <Paragraphs>104</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Marina Kulmane</dc:creator>
  <cp:keywords/>
  <dc:description/>
  <cp:lastModifiedBy>marina kulman</cp:lastModifiedBy>
  <cp:revision>6</cp:revision>
  <dcterms:created xsi:type="dcterms:W3CDTF">2026-09-03T10:09:45Z</dcterms:created>
  <dcterms:modified xsi:type="dcterms:W3CDTF">2026-09-16T16:19:29Z</dcterms:modified>
  <cp:category/>
</cp:coreProperties>
</file>